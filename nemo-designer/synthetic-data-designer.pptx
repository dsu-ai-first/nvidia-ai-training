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bee3ce7-250b-ca85-636a-96160a675705}">
          <p14:sldIdLst>
            <p14:sldId id="256"/>
          </p14:sldIdLst>
        </p14:section>
        <p14:section name="Concepts" id="{9032ea5c-0ac4-ed3d-9e4e-0630e6736d49}">
          <p14:sldIdLst>
            <p14:sldId id="257"/>
            <p14:sldId id="258"/>
          </p14:sldIdLst>
        </p14:section>
        <p14:section name="Hands-on" id="{8772dcb6-1d5e-db2b-2e3b-472b83ed7399}">
          <p14:sldIdLst>
            <p14:sldId id="259"/>
            <p14:sldId id="260"/>
            <p14:sldId id="261"/>
          </p14:sldIdLst>
        </p14:section>
        <p14:section name="Wrap-up" id="{a70b5175-e4e1-da04-1d14-70c72531917f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problem. Real data is hard to get: it may be private, rare, or expensive to label. Synthetic data is one practical answer. Today is a first look at one tool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light. These four steps are the whole tool. Configure and generate come first in the demo, then evaluate and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ideas cover everything in the demo. The key point: columns can use values from earlier columns, which is how the chain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to upload here. The sampler picks a language, the prompt uses it, and the model writes the greeting. This is the simplest possible run, so use it to show the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the model starts from real rows. We add two columns: a sentiment label and a one-sentence summary. Existing data gets enriched instead of replaced.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judge is another model call. It reads the original review and the summary, then gives a score and a reason. The rubric wording matters: vague scores give vague judging.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also why the live demo starts with a small run. In our test, the greeting preview took seconds, but the review preview with the judge took about two minutes. Small runs make that visible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config can run without errors and still produce weak data. Scores from a judge are a signal, not proof. Combine the judge with plain checks, and look at the worst rows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faculty to suggest their own uses here. Generated questions and records are drafts, so a human review step stays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Run the greeting example first since it is fast, then the review example with the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1206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4846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FACULTY WORKSHOP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097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Synthetic data with Data Designer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1546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Real data is often scarce, private, or costly to label. Here is another way to get it.</a:t>
            </a:r>
            <a:endParaRPr lang="en-US" sz="1800" dirty="0"/>
          </a:p>
        </p:txBody>
      </p:sp>
      <p:sp>
        <p:nvSpPr>
          <p:cNvPr id="5" name="Data cell 1"/>
          <p:cNvSpPr/>
          <p:nvPr/>
        </p:nvSpPr>
        <p:spPr>
          <a:xfrm>
            <a:off x="6355080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6" name="Data cell 2"/>
          <p:cNvSpPr/>
          <p:nvPr/>
        </p:nvSpPr>
        <p:spPr>
          <a:xfrm>
            <a:off x="6967728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Data cell 3"/>
          <p:cNvSpPr/>
          <p:nvPr/>
        </p:nvSpPr>
        <p:spPr>
          <a:xfrm>
            <a:off x="7580376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8" name="Data cell 4"/>
          <p:cNvSpPr/>
          <p:nvPr/>
        </p:nvSpPr>
        <p:spPr>
          <a:xfrm>
            <a:off x="8193024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9" name="Data cell 5"/>
          <p:cNvSpPr/>
          <p:nvPr/>
        </p:nvSpPr>
        <p:spPr>
          <a:xfrm>
            <a:off x="6355080" y="198424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Data cell 6"/>
          <p:cNvSpPr/>
          <p:nvPr/>
        </p:nvSpPr>
        <p:spPr>
          <a:xfrm>
            <a:off x="6967728" y="198424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11" name="Data cell 7"/>
          <p:cNvSpPr/>
          <p:nvPr/>
        </p:nvSpPr>
        <p:spPr>
          <a:xfrm>
            <a:off x="7580376" y="198424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Data cell 8"/>
          <p:cNvSpPr/>
          <p:nvPr/>
        </p:nvSpPr>
        <p:spPr>
          <a:xfrm>
            <a:off x="8193024" y="198424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13" name="Data cell 9"/>
          <p:cNvSpPr/>
          <p:nvPr/>
        </p:nvSpPr>
        <p:spPr>
          <a:xfrm>
            <a:off x="6355080" y="2596896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14" name="Data cell 10"/>
          <p:cNvSpPr/>
          <p:nvPr/>
        </p:nvSpPr>
        <p:spPr>
          <a:xfrm>
            <a:off x="6967728" y="2596896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15" name="Data cell 11"/>
          <p:cNvSpPr/>
          <p:nvPr/>
        </p:nvSpPr>
        <p:spPr>
          <a:xfrm>
            <a:off x="7580376" y="2596896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Data cell 12"/>
          <p:cNvSpPr/>
          <p:nvPr/>
        </p:nvSpPr>
        <p:spPr>
          <a:xfrm>
            <a:off x="8193024" y="2596896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Data cell 13"/>
          <p:cNvSpPr/>
          <p:nvPr/>
        </p:nvSpPr>
        <p:spPr>
          <a:xfrm>
            <a:off x="6355080" y="3209544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Data cell 14"/>
          <p:cNvSpPr/>
          <p:nvPr/>
        </p:nvSpPr>
        <p:spPr>
          <a:xfrm>
            <a:off x="6967728" y="3209544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19" name="Data cell 15"/>
          <p:cNvSpPr/>
          <p:nvPr/>
        </p:nvSpPr>
        <p:spPr>
          <a:xfrm>
            <a:off x="7580376" y="3209544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20" name="Data cell 16"/>
          <p:cNvSpPr/>
          <p:nvPr/>
        </p:nvSpPr>
        <p:spPr>
          <a:xfrm>
            <a:off x="8193024" y="3209544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Grid caption"/>
          <p:cNvSpPr txBox="1"/>
          <p:nvPr/>
        </p:nvSpPr>
        <p:spPr>
          <a:xfrm>
            <a:off x="63550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Solid cells are generated. Outlined cells are the real examples.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steps, one workflow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title 1"/>
          <p:cNvSpPr txBox="1"/>
          <p:nvPr/>
        </p:nvSpPr>
        <p:spPr>
          <a:xfrm>
            <a:off x="73152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Configure</a:t>
            </a:r>
            <a:endParaRPr lang="en-US" sz="2000" dirty="0"/>
          </a:p>
        </p:txBody>
      </p:sp>
      <p:sp>
        <p:nvSpPr>
          <p:cNvPr id="6" name="Step text 1"/>
          <p:cNvSpPr txBox="1"/>
          <p:nvPr/>
        </p:nvSpPr>
        <p:spPr>
          <a:xfrm>
            <a:off x="731520" y="2651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 the columns, the model, and the prompts.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2350008" y="2468880"/>
            <a:ext cx="23774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ep card 2"/>
          <p:cNvSpPr/>
          <p:nvPr/>
        </p:nvSpPr>
        <p:spPr>
          <a:xfrm>
            <a:off x="2651760" y="1371600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28346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 title 2"/>
          <p:cNvSpPr txBox="1"/>
          <p:nvPr/>
        </p:nvSpPr>
        <p:spPr>
          <a:xfrm>
            <a:off x="283464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Generate</a:t>
            </a:r>
            <a:endParaRPr lang="en-US" sz="2000" dirty="0"/>
          </a:p>
        </p:txBody>
      </p:sp>
      <p:sp>
        <p:nvSpPr>
          <p:cNvPr id="11" name="Step text 2"/>
          <p:cNvSpPr txBox="1"/>
          <p:nvPr/>
        </p:nvSpPr>
        <p:spPr>
          <a:xfrm>
            <a:off x="2834640" y="2651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records, with or without example data.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4453128" y="2468880"/>
            <a:ext cx="23774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ep card 3"/>
          <p:cNvSpPr/>
          <p:nvPr/>
        </p:nvSpPr>
        <p:spPr>
          <a:xfrm>
            <a:off x="4754880" y="1371600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tep title 3"/>
          <p:cNvSpPr txBox="1"/>
          <p:nvPr/>
        </p:nvSpPr>
        <p:spPr>
          <a:xfrm>
            <a:off x="493776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Evaluate</a:t>
            </a:r>
            <a:endParaRPr lang="en-US" sz="2000" dirty="0"/>
          </a:p>
        </p:txBody>
      </p:sp>
      <p:sp>
        <p:nvSpPr>
          <p:cNvPr id="16" name="Step text 3"/>
          <p:cNvSpPr txBox="1"/>
          <p:nvPr/>
        </p:nvSpPr>
        <p:spPr>
          <a:xfrm>
            <a:off x="4937760" y="2651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the results with checks and a judge model.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6556248" y="2468880"/>
            <a:ext cx="23774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ep card 4"/>
          <p:cNvSpPr/>
          <p:nvPr/>
        </p:nvSpPr>
        <p:spPr>
          <a:xfrm>
            <a:off x="6858000" y="1371600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9" name="Step number 4"/>
          <p:cNvSpPr/>
          <p:nvPr/>
        </p:nvSpPr>
        <p:spPr>
          <a:xfrm>
            <a:off x="70408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tep title 4"/>
          <p:cNvSpPr txBox="1"/>
          <p:nvPr/>
        </p:nvSpPr>
        <p:spPr>
          <a:xfrm>
            <a:off x="704088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Export</a:t>
            </a:r>
            <a:endParaRPr lang="en-US" sz="2000" dirty="0"/>
          </a:p>
        </p:txBody>
      </p:sp>
      <p:sp>
        <p:nvSpPr>
          <p:cNvPr id="21" name="Step text 4"/>
          <p:cNvSpPr txBox="1"/>
          <p:nvPr/>
        </p:nvSpPr>
        <p:spPr>
          <a:xfrm>
            <a:off x="7040880" y="2651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the dataset for training or experiments.</a:t>
            </a:r>
            <a:endParaRPr lang="en-US" sz="1400" dirty="0"/>
          </a:p>
        </p:txBody>
      </p:sp>
      <p:sp>
        <p:nvSpPr>
          <p:cNvPr id="22" name="Caption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demo notebook follows this order.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building blocks</a:t>
            </a:r>
            <a:endParaRPr lang="en-US" sz="3600" dirty="0"/>
          </a:p>
        </p:txBody>
      </p:sp>
      <p:sp>
        <p:nvSpPr>
          <p:cNvPr id="3" name="Block card 1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Sampler icon circle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ampler icon" descr="Sampl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Block title 1"/>
          <p:cNvSpPr txBox="1"/>
          <p:nvPr/>
        </p:nvSpPr>
        <p:spPr>
          <a:xfrm>
            <a:off x="16459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Sampler</a:t>
            </a:r>
            <a:endParaRPr lang="en-US" sz="1800" dirty="0"/>
          </a:p>
        </p:txBody>
      </p:sp>
      <p:sp>
        <p:nvSpPr>
          <p:cNvPr id="7" name="Block text 1"/>
          <p:cNvSpPr txBox="1"/>
          <p:nvPr/>
        </p:nvSpPr>
        <p:spPr>
          <a:xfrm>
            <a:off x="16459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Picks values for you, like a random language from a list.</a:t>
            </a:r>
            <a:endParaRPr lang="en-US" sz="1400" dirty="0"/>
          </a:p>
        </p:txBody>
      </p:sp>
      <p:sp>
        <p:nvSpPr>
          <p:cNvPr id="8" name="Block card 2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LLM column icon circle"/>
          <p:cNvSpPr/>
          <p:nvPr/>
        </p:nvSpPr>
        <p:spPr>
          <a:xfrm>
            <a:off x="489204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LLM column icon" descr="LLM colum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817370"/>
            <a:ext cx="342900" cy="342900"/>
          </a:xfrm>
          <a:prstGeom prst="rect">
            <a:avLst/>
          </a:prstGeom>
        </p:spPr>
      </p:pic>
      <p:sp>
        <p:nvSpPr>
          <p:cNvPr id="11" name="Block title 2"/>
          <p:cNvSpPr txBox="1"/>
          <p:nvPr/>
        </p:nvSpPr>
        <p:spPr>
          <a:xfrm>
            <a:off x="57607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LLM column</a:t>
            </a:r>
            <a:endParaRPr lang="en-US" sz="1800" dirty="0"/>
          </a:p>
        </p:txBody>
      </p:sp>
      <p:sp>
        <p:nvSpPr>
          <p:cNvPr id="12" name="Block text 2"/>
          <p:cNvSpPr txBox="1"/>
          <p:nvPr/>
        </p:nvSpPr>
        <p:spPr>
          <a:xfrm>
            <a:off x="57607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Asks a model to write text from a prompt you define.</a:t>
            </a:r>
            <a:endParaRPr lang="en-US" sz="1400" dirty="0"/>
          </a:p>
        </p:txBody>
      </p:sp>
      <p:sp>
        <p:nvSpPr>
          <p:cNvPr id="13" name="Block card 3"/>
          <p:cNvSpPr/>
          <p:nvPr/>
        </p:nvSpPr>
        <p:spPr>
          <a:xfrm>
            <a:off x="548640" y="28803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Seed data icon circle"/>
          <p:cNvSpPr/>
          <p:nvPr/>
        </p:nvSpPr>
        <p:spPr>
          <a:xfrm>
            <a:off x="777240" y="3246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eed data icon" descr="Seed dat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417570"/>
            <a:ext cx="342900" cy="342900"/>
          </a:xfrm>
          <a:prstGeom prst="rect">
            <a:avLst/>
          </a:prstGeom>
        </p:spPr>
      </p:pic>
      <p:sp>
        <p:nvSpPr>
          <p:cNvPr id="16" name="Block title 3"/>
          <p:cNvSpPr txBox="1"/>
          <p:nvPr/>
        </p:nvSpPr>
        <p:spPr>
          <a:xfrm>
            <a:off x="164592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Seed data</a:t>
            </a:r>
            <a:endParaRPr lang="en-US" sz="1800" dirty="0"/>
          </a:p>
        </p:txBody>
      </p:sp>
      <p:sp>
        <p:nvSpPr>
          <p:cNvPr id="17" name="Block text 3"/>
          <p:cNvSpPr txBox="1"/>
          <p:nvPr/>
        </p:nvSpPr>
        <p:spPr>
          <a:xfrm>
            <a:off x="1645920" y="3474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own real examples, used as a starting point.</a:t>
            </a:r>
            <a:endParaRPr lang="en-US" sz="1400" dirty="0"/>
          </a:p>
        </p:txBody>
      </p:sp>
      <p:sp>
        <p:nvSpPr>
          <p:cNvPr id="18" name="Block card 4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9" name="Judge icon circle"/>
          <p:cNvSpPr/>
          <p:nvPr/>
        </p:nvSpPr>
        <p:spPr>
          <a:xfrm>
            <a:off x="4892040" y="3246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Judge icon" descr="Judg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417570"/>
            <a:ext cx="342900" cy="342900"/>
          </a:xfrm>
          <a:prstGeom prst="rect">
            <a:avLst/>
          </a:prstGeom>
        </p:spPr>
      </p:pic>
      <p:sp>
        <p:nvSpPr>
          <p:cNvPr id="21" name="Block title 4"/>
          <p:cNvSpPr txBox="1"/>
          <p:nvPr/>
        </p:nvSpPr>
        <p:spPr>
          <a:xfrm>
            <a:off x="576072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Judge</a:t>
            </a:r>
            <a:endParaRPr lang="en-US" sz="1800" dirty="0"/>
          </a:p>
        </p:txBody>
      </p:sp>
      <p:sp>
        <p:nvSpPr>
          <p:cNvPr id="22" name="Block text 4"/>
          <p:cNvSpPr txBox="1"/>
          <p:nvPr/>
        </p:nvSpPr>
        <p:spPr>
          <a:xfrm>
            <a:off x="5760720" y="3474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second model scores the output against your rubric.</a:t>
            </a:r>
            <a:endParaRPr lang="en-US" sz="1400" dirty="0"/>
          </a:p>
        </p:txBody>
      </p:sp>
      <p:sp>
        <p:nvSpPr>
          <p:cNvPr id="23" name="Caption"/>
          <p:cNvSpPr txBox="1"/>
          <p:nvPr/>
        </p:nvSpPr>
        <p:spPr>
          <a:xfrm>
            <a:off x="548640" y="4480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One column can feed the next.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sampled language goes straight into the greeting prompt.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1: no seed data</a:t>
            </a:r>
            <a:endParaRPr lang="en-US" sz="3600" dirty="0"/>
          </a:p>
        </p:txBody>
      </p:sp>
      <p:sp>
        <p:nvSpPr>
          <p:cNvPr id="3" name="Sampler card"/>
          <p:cNvSpPr/>
          <p:nvPr/>
        </p:nvSpPr>
        <p:spPr>
          <a:xfrm>
            <a:off x="548640" y="1371600"/>
            <a:ext cx="2377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ampler label"/>
          <p:cNvSpPr txBox="1"/>
          <p:nvPr/>
        </p:nvSpPr>
        <p:spPr>
          <a:xfrm>
            <a:off x="7772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  SAMPLER</a:t>
            </a:r>
            <a:endParaRPr lang="en-US" sz="1200" dirty="0"/>
          </a:p>
        </p:txBody>
      </p:sp>
      <p:sp>
        <p:nvSpPr>
          <p:cNvPr id="5" name="Sampler values"/>
          <p:cNvSpPr txBox="1"/>
          <p:nvPr/>
        </p:nvSpPr>
        <p:spPr>
          <a:xfrm>
            <a:off x="777240" y="19659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English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Spanish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French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German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Italian</a:t>
            </a:r>
            <a:endParaRPr lang="en-US" sz="1600" dirty="0"/>
          </a:p>
        </p:txBody>
      </p:sp>
      <p:sp>
        <p:nvSpPr>
          <p:cNvPr id="6" name="Prompt card"/>
          <p:cNvSpPr/>
          <p:nvPr/>
        </p:nvSpPr>
        <p:spPr>
          <a:xfrm>
            <a:off x="3383280" y="1371600"/>
            <a:ext cx="2377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Prompt label"/>
          <p:cNvSpPr txBox="1"/>
          <p:nvPr/>
        </p:nvSpPr>
        <p:spPr>
          <a:xfrm>
            <a:off x="36118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  PROMPT</a:t>
            </a:r>
            <a:endParaRPr lang="en-US" sz="1200" dirty="0"/>
          </a:p>
        </p:txBody>
      </p:sp>
      <p:sp>
        <p:nvSpPr>
          <p:cNvPr id="8" name="Prompt text"/>
          <p:cNvSpPr txBox="1"/>
          <p:nvPr/>
        </p:nvSpPr>
        <p:spPr>
          <a:xfrm>
            <a:off x="3611880" y="196596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casual greeting in {{ language }}.</a:t>
            </a:r>
            <a:endParaRPr lang="en-US" sz="1500" dirty="0"/>
          </a:p>
        </p:txBody>
      </p:sp>
      <p:sp>
        <p:nvSpPr>
          <p:cNvPr id="9" name="Output card"/>
          <p:cNvSpPr/>
          <p:nvPr/>
        </p:nvSpPr>
        <p:spPr>
          <a:xfrm>
            <a:off x="6217920" y="1371600"/>
            <a:ext cx="2377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0" name="Output label"/>
          <p:cNvSpPr txBox="1"/>
          <p:nvPr/>
        </p:nvSpPr>
        <p:spPr>
          <a:xfrm>
            <a:off x="64465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 OUTPUT</a:t>
            </a:r>
            <a:endParaRPr lang="en-US" sz="1200" dirty="0"/>
          </a:p>
        </p:txBody>
      </p:sp>
      <p:sp>
        <p:nvSpPr>
          <p:cNvPr id="11" name="Output language"/>
          <p:cNvSpPr txBox="1"/>
          <p:nvPr/>
        </p:nvSpPr>
        <p:spPr>
          <a:xfrm>
            <a:off x="64465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French</a:t>
            </a:r>
            <a:endParaRPr lang="en-US" sz="1600" dirty="0"/>
          </a:p>
        </p:txBody>
      </p:sp>
      <p:sp>
        <p:nvSpPr>
          <p:cNvPr id="12" name="Output greeting"/>
          <p:cNvSpPr txBox="1"/>
          <p:nvPr/>
        </p:nvSpPr>
        <p:spPr>
          <a:xfrm>
            <a:off x="644652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Salut !</a:t>
            </a:r>
            <a:endParaRPr lang="en-US" sz="3600" dirty="0"/>
          </a:p>
        </p:txBody>
      </p:sp>
      <p:sp>
        <p:nvSpPr>
          <p:cNvPr id="13" name="Arrow 1"/>
          <p:cNvSpPr/>
          <p:nvPr/>
        </p:nvSpPr>
        <p:spPr>
          <a:xfrm>
            <a:off x="3017520" y="2286000"/>
            <a:ext cx="27432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Arrow 2"/>
          <p:cNvSpPr/>
          <p:nvPr/>
        </p:nvSpPr>
        <p:spPr>
          <a:xfrm>
            <a:off x="5852160" y="2286000"/>
            <a:ext cx="27432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Caption"/>
          <p:cNvSpPr txBox="1"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 our test run, 10 greetings came back in under 4 seconds.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2: with seed data</a:t>
            </a:r>
            <a:endParaRPr lang="en-US" sz="3600" dirty="0"/>
          </a:p>
        </p:txBody>
      </p:sp>
      <p:sp>
        <p:nvSpPr>
          <p:cNvPr id="3" name="Seed card"/>
          <p:cNvSpPr/>
          <p:nvPr/>
        </p:nvSpPr>
        <p:spPr>
          <a:xfrm>
            <a:off x="548640" y="1371600"/>
            <a:ext cx="32918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Seed label"/>
          <p:cNvSpPr txBox="1"/>
          <p:nvPr/>
        </p:nvSpPr>
        <p:spPr>
          <a:xfrm>
            <a:off x="7772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SEED ROW</a:t>
            </a:r>
            <a:endParaRPr lang="en-US" sz="1200" dirty="0"/>
          </a:p>
        </p:txBody>
      </p:sp>
      <p:sp>
        <p:nvSpPr>
          <p:cNvPr id="5" name="Seed text"/>
          <p:cNvSpPr txBox="1"/>
          <p:nvPr/>
        </p:nvSpPr>
        <p:spPr>
          <a:xfrm>
            <a:off x="777240" y="192024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Headphones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Amazing sound quality and comfortable fit. Totally worth the price.</a:t>
            </a:r>
            <a:endParaRPr lang="en-US" sz="1500" dirty="0"/>
          </a:p>
        </p:txBody>
      </p:sp>
      <p:sp>
        <p:nvSpPr>
          <p:cNvPr id="6" name="Arrow"/>
          <p:cNvSpPr/>
          <p:nvPr/>
        </p:nvSpPr>
        <p:spPr>
          <a:xfrm>
            <a:off x="3931920" y="2514600"/>
            <a:ext cx="41148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Sentiment card"/>
          <p:cNvSpPr/>
          <p:nvPr/>
        </p:nvSpPr>
        <p:spPr>
          <a:xfrm>
            <a:off x="4434840" y="1371600"/>
            <a:ext cx="41605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8" name="Sentiment label"/>
          <p:cNvSpPr txBox="1"/>
          <p:nvPr/>
        </p:nvSpPr>
        <p:spPr>
          <a:xfrm>
            <a:off x="46634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NEW COLUMN: SENTIMENT</a:t>
            </a:r>
            <a:endParaRPr lang="en-US" sz="1200" dirty="0"/>
          </a:p>
        </p:txBody>
      </p:sp>
      <p:sp>
        <p:nvSpPr>
          <p:cNvPr id="9" name="Sentiment value"/>
          <p:cNvSpPr txBox="1"/>
          <p:nvPr/>
        </p:nvSpPr>
        <p:spPr>
          <a:xfrm>
            <a:off x="466344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Positive</a:t>
            </a:r>
            <a:endParaRPr lang="en-US" sz="2800" dirty="0"/>
          </a:p>
        </p:txBody>
      </p:sp>
      <p:sp>
        <p:nvSpPr>
          <p:cNvPr id="10" name="Summary card"/>
          <p:cNvSpPr/>
          <p:nvPr/>
        </p:nvSpPr>
        <p:spPr>
          <a:xfrm>
            <a:off x="4434840" y="2743200"/>
            <a:ext cx="4160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1" name="Summary label"/>
          <p:cNvSpPr txBox="1"/>
          <p:nvPr/>
        </p:nvSpPr>
        <p:spPr>
          <a:xfrm>
            <a:off x="46634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NEW COLUMN: REVIEW SUMMARY</a:t>
            </a:r>
            <a:endParaRPr lang="en-US" sz="1200" dirty="0"/>
          </a:p>
        </p:txBody>
      </p:sp>
      <p:sp>
        <p:nvSpPr>
          <p:cNvPr id="12" name="Summary value"/>
          <p:cNvSpPr txBox="1"/>
          <p:nvPr/>
        </p:nvSpPr>
        <p:spPr>
          <a:xfrm>
            <a:off x="466344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Amazing sound quality and comfortable fit, totally worth the price.</a:t>
            </a:r>
            <a:endParaRPr lang="en-US" sz="1500" dirty="0"/>
          </a:p>
        </p:txBody>
      </p:sp>
      <p:sp>
        <p:nvSpPr>
          <p:cNvPr id="13" name="Caption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row in the seed file gets its own label and summary.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Quality checks with a judge</a:t>
            </a:r>
            <a:endParaRPr lang="en-US" sz="3600" dirty="0"/>
          </a:p>
        </p:txBody>
      </p:sp>
      <p:sp>
        <p:nvSpPr>
          <p:cNvPr id="3" name="Score box 1"/>
          <p:cNvSpPr/>
          <p:nvPr/>
        </p:nvSpPr>
        <p:spPr>
          <a:xfrm>
            <a:off x="548640" y="1280160"/>
            <a:ext cx="1389888" cy="1143000"/>
          </a:xfrm>
          <a:prstGeom prst="roundRect">
            <a:avLst>
              <a:gd name="adj" fmla="val 8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Score number 1"/>
          <p:cNvSpPr txBox="1"/>
          <p:nvPr/>
        </p:nvSpPr>
        <p:spPr>
          <a:xfrm>
            <a:off x="548640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Score label 1"/>
          <p:cNvSpPr txBox="1"/>
          <p:nvPr/>
        </p:nvSpPr>
        <p:spPr>
          <a:xfrm>
            <a:off x="548640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Very poor</a:t>
            </a:r>
            <a:endParaRPr lang="en-US" sz="1400" dirty="0"/>
          </a:p>
        </p:txBody>
      </p:sp>
      <p:sp>
        <p:nvSpPr>
          <p:cNvPr id="6" name="Score box 2"/>
          <p:cNvSpPr/>
          <p:nvPr/>
        </p:nvSpPr>
        <p:spPr>
          <a:xfrm>
            <a:off x="2167128" y="1280160"/>
            <a:ext cx="1389888" cy="1143000"/>
          </a:xfrm>
          <a:prstGeom prst="roundRect">
            <a:avLst>
              <a:gd name="adj" fmla="val 8000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7" name="Score number 2"/>
          <p:cNvSpPr txBox="1"/>
          <p:nvPr/>
        </p:nvSpPr>
        <p:spPr>
          <a:xfrm>
            <a:off x="2167128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</a:t>
            </a:r>
            <a:endParaRPr lang="en-US" sz="3200" dirty="0"/>
          </a:p>
        </p:txBody>
      </p:sp>
      <p:sp>
        <p:nvSpPr>
          <p:cNvPr id="8" name="Score label 2"/>
          <p:cNvSpPr txBox="1"/>
          <p:nvPr/>
        </p:nvSpPr>
        <p:spPr>
          <a:xfrm>
            <a:off x="2167128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Poor</a:t>
            </a:r>
            <a:endParaRPr lang="en-US" sz="1400" dirty="0"/>
          </a:p>
        </p:txBody>
      </p:sp>
      <p:sp>
        <p:nvSpPr>
          <p:cNvPr id="9" name="Score box 3"/>
          <p:cNvSpPr/>
          <p:nvPr/>
        </p:nvSpPr>
        <p:spPr>
          <a:xfrm>
            <a:off x="3785616" y="1280160"/>
            <a:ext cx="1389888" cy="1143000"/>
          </a:xfrm>
          <a:prstGeom prst="roundRect">
            <a:avLst>
              <a:gd name="adj" fmla="val 8000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0" name="Score number 3"/>
          <p:cNvSpPr txBox="1"/>
          <p:nvPr/>
        </p:nvSpPr>
        <p:spPr>
          <a:xfrm>
            <a:off x="3785616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</a:t>
            </a:r>
            <a:endParaRPr lang="en-US" sz="3200" dirty="0"/>
          </a:p>
        </p:txBody>
      </p:sp>
      <p:sp>
        <p:nvSpPr>
          <p:cNvPr id="11" name="Score label 3"/>
          <p:cNvSpPr txBox="1"/>
          <p:nvPr/>
        </p:nvSpPr>
        <p:spPr>
          <a:xfrm>
            <a:off x="3785616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Acceptable</a:t>
            </a:r>
            <a:endParaRPr lang="en-US" sz="1400" dirty="0"/>
          </a:p>
        </p:txBody>
      </p:sp>
      <p:sp>
        <p:nvSpPr>
          <p:cNvPr id="12" name="Score box 4"/>
          <p:cNvSpPr/>
          <p:nvPr/>
        </p:nvSpPr>
        <p:spPr>
          <a:xfrm>
            <a:off x="5404104" y="1280160"/>
            <a:ext cx="1389888" cy="1143000"/>
          </a:xfrm>
          <a:prstGeom prst="roundRect">
            <a:avLst>
              <a:gd name="adj" fmla="val 8000"/>
            </a:avLst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13" name="Score number 4"/>
          <p:cNvSpPr txBox="1"/>
          <p:nvPr/>
        </p:nvSpPr>
        <p:spPr>
          <a:xfrm>
            <a:off x="5404104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4</a:t>
            </a:r>
            <a:endParaRPr lang="en-US" sz="3200" dirty="0"/>
          </a:p>
        </p:txBody>
      </p:sp>
      <p:sp>
        <p:nvSpPr>
          <p:cNvPr id="14" name="Score label 4"/>
          <p:cNvSpPr txBox="1"/>
          <p:nvPr/>
        </p:nvSpPr>
        <p:spPr>
          <a:xfrm>
            <a:off x="5404104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Good</a:t>
            </a:r>
            <a:endParaRPr lang="en-US" sz="1400" dirty="0"/>
          </a:p>
        </p:txBody>
      </p:sp>
      <p:sp>
        <p:nvSpPr>
          <p:cNvPr id="15" name="Score box 5"/>
          <p:cNvSpPr/>
          <p:nvPr/>
        </p:nvSpPr>
        <p:spPr>
          <a:xfrm>
            <a:off x="7022592" y="1280160"/>
            <a:ext cx="1389888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6" name="Score number 5"/>
          <p:cNvSpPr txBox="1"/>
          <p:nvPr/>
        </p:nvSpPr>
        <p:spPr>
          <a:xfrm>
            <a:off x="7022592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</a:t>
            </a:r>
            <a:endParaRPr lang="en-US" sz="3200" dirty="0"/>
          </a:p>
        </p:txBody>
      </p:sp>
      <p:sp>
        <p:nvSpPr>
          <p:cNvPr id="17" name="Score label 5"/>
          <p:cNvSpPr txBox="1"/>
          <p:nvPr/>
        </p:nvSpPr>
        <p:spPr>
          <a:xfrm>
            <a:off x="7022592" y="196596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Excellent</a:t>
            </a:r>
            <a:endParaRPr lang="en-US" sz="1400" dirty="0"/>
          </a:p>
        </p:txBody>
      </p:sp>
      <p:sp>
        <p:nvSpPr>
          <p:cNvPr id="18" name="Rubric question"/>
          <p:cNvSpPr txBox="1"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Faithfulness: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does the summary keep the key points without inventing facts?</a:t>
            </a:r>
            <a:endParaRPr lang="en-US" sz="1800" dirty="0"/>
          </a:p>
        </p:txBody>
      </p:sp>
      <p:sp>
        <p:nvSpPr>
          <p:cNvPr id="19" name="Example card"/>
          <p:cNvSpPr/>
          <p:nvPr/>
        </p:nvSpPr>
        <p:spPr>
          <a:xfrm>
            <a:off x="548640" y="3291840"/>
            <a:ext cx="8046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0" name="Example label"/>
          <p:cNvSpPr txBox="1"/>
          <p:nvPr/>
        </p:nvSpPr>
        <p:spPr>
          <a:xfrm>
            <a:off x="7772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FROM OUR RUN</a:t>
            </a:r>
            <a:endParaRPr lang="en-US" sz="1200" dirty="0"/>
          </a:p>
        </p:txBody>
      </p:sp>
      <p:sp>
        <p:nvSpPr>
          <p:cNvPr id="21" name="Example result"/>
          <p:cNvSpPr txBox="1"/>
          <p:nvPr/>
        </p:nvSpPr>
        <p:spPr>
          <a:xfrm>
            <a:off x="777240" y="3703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 5.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judge found every key point kept and nothing invented.</a:t>
            </a:r>
            <a:endParaRPr lang="en-US" sz="1600" dirty="0"/>
          </a:p>
        </p:txBody>
      </p:sp>
      <p:sp>
        <p:nvSpPr>
          <p:cNvPr id="22" name="Example note"/>
          <p:cNvSpPr txBox="1"/>
          <p:nvPr/>
        </p:nvSpPr>
        <p:spPr>
          <a:xfrm>
            <a:off x="777240" y="4069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score needs a clear definition, or the judge will score inconsistently.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Preview first, then create</a:t>
            </a:r>
            <a:endParaRPr lang="en-US" sz="3600" dirty="0"/>
          </a:p>
        </p:txBody>
      </p:sp>
      <p:sp>
        <p:nvSpPr>
          <p:cNvPr id="3" name="Preview card"/>
          <p:cNvSpPr/>
          <p:nvPr/>
        </p:nvSpPr>
        <p:spPr>
          <a:xfrm>
            <a:off x="54864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Preview label"/>
          <p:cNvSpPr txBox="1"/>
          <p:nvPr/>
        </p:nvSpPr>
        <p:spPr>
          <a:xfrm>
            <a:off x="82296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PREVIEW</a:t>
            </a:r>
            <a:endParaRPr lang="en-US" sz="1200" dirty="0"/>
          </a:p>
        </p:txBody>
      </p:sp>
      <p:sp>
        <p:nvSpPr>
          <p:cNvPr id="5" name="Preview title"/>
          <p:cNvSpPr txBox="1"/>
          <p:nvPr/>
        </p:nvSpPr>
        <p:spPr>
          <a:xfrm>
            <a:off x="82296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small test run</a:t>
            </a:r>
            <a:endParaRPr lang="en-US" sz="2200" dirty="0"/>
          </a:p>
        </p:txBody>
      </p:sp>
      <p:sp>
        <p:nvSpPr>
          <p:cNvPr id="6" name="Preview text"/>
          <p:cNvSpPr txBox="1"/>
          <p:nvPr/>
        </p:nvSpPr>
        <p:spPr>
          <a:xfrm>
            <a:off x="82296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Generates a few records and shows them on screen. Nothing is saved, so it is safe to try ideas.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4297680" y="2331720"/>
            <a:ext cx="548640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Create card"/>
          <p:cNvSpPr/>
          <p:nvPr/>
        </p:nvSpPr>
        <p:spPr>
          <a:xfrm>
            <a:off x="493776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9" name="Create label"/>
          <p:cNvSpPr txBox="1"/>
          <p:nvPr/>
        </p:nvSpPr>
        <p:spPr>
          <a:xfrm>
            <a:off x="521208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CREATE</a:t>
            </a:r>
            <a:endParaRPr lang="en-US" sz="1200" dirty="0"/>
          </a:p>
        </p:txBody>
      </p:sp>
      <p:sp>
        <p:nvSpPr>
          <p:cNvPr id="10" name="Create title"/>
          <p:cNvSpPr txBox="1"/>
          <p:nvPr/>
        </p:nvSpPr>
        <p:spPr>
          <a:xfrm>
            <a:off x="521208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The full dataset</a:t>
            </a:r>
            <a:endParaRPr lang="en-US" sz="2200" dirty="0"/>
          </a:p>
        </p:txBody>
      </p:sp>
      <p:sp>
        <p:nvSpPr>
          <p:cNvPr id="11" name="Create text"/>
          <p:cNvSpPr txBox="1"/>
          <p:nvPr/>
        </p:nvSpPr>
        <p:spPr>
          <a:xfrm>
            <a:off x="521208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Generates every record and writes the results to files. Run it once the preview looks right.</a:t>
            </a:r>
            <a:endParaRPr lang="en-US" sz="1600" dirty="0"/>
          </a:p>
        </p:txBody>
      </p:sp>
      <p:sp>
        <p:nvSpPr>
          <p:cNvPr id="12" name="Takeaway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problems on 10 records, not on 10,000.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Valid does not mean good</a:t>
            </a:r>
            <a:endParaRPr lang="en-US" sz="3600" dirty="0"/>
          </a:p>
        </p:txBody>
      </p:sp>
      <p:sp>
        <p:nvSpPr>
          <p:cNvPr id="3" name="Valid card"/>
          <p:cNvSpPr/>
          <p:nvPr/>
        </p:nvSpPr>
        <p:spPr>
          <a:xfrm>
            <a:off x="548640" y="128016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pic>
        <p:nvPicPr>
          <p:cNvPr id="4" name="Check icon" descr="Check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81328"/>
            <a:ext cx="365760" cy="365760"/>
          </a:xfrm>
          <a:prstGeom prst="rect">
            <a:avLst/>
          </a:prstGeom>
        </p:spPr>
      </p:pic>
      <p:sp>
        <p:nvSpPr>
          <p:cNvPr id="5" name="Valid title"/>
          <p:cNvSpPr txBox="1"/>
          <p:nvPr/>
        </p:nvSpPr>
        <p:spPr>
          <a:xfrm>
            <a:off x="128016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Validation passes when</a:t>
            </a:r>
            <a:endParaRPr lang="en-US" sz="1800" dirty="0"/>
          </a:p>
        </p:txBody>
      </p:sp>
      <p:sp>
        <p:nvSpPr>
          <p:cNvPr id="6" name="Valid text"/>
          <p:cNvSpPr txBox="1"/>
          <p:nvPr/>
        </p:nvSpPr>
        <p:spPr>
          <a:xfrm>
            <a:off x="777240" y="2057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columns link up, the model responds, and the dataset saves.</a:t>
            </a:r>
            <a:endParaRPr lang="en-US" sz="1600" dirty="0"/>
          </a:p>
        </p:txBody>
      </p:sp>
      <p:sp>
        <p:nvSpPr>
          <p:cNvPr id="7" name="Unknown card"/>
          <p:cNvSpPr/>
          <p:nvPr/>
        </p:nvSpPr>
        <p:spPr>
          <a:xfrm>
            <a:off x="4663440" y="128016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pic>
        <p:nvPicPr>
          <p:cNvPr id="8" name="Question icon" descr="Question 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81328"/>
            <a:ext cx="365760" cy="365760"/>
          </a:xfrm>
          <a:prstGeom prst="rect">
            <a:avLst/>
          </a:prstGeom>
        </p:spPr>
      </p:pic>
      <p:sp>
        <p:nvSpPr>
          <p:cNvPr id="9" name="Unknown title"/>
          <p:cNvSpPr txBox="1"/>
          <p:nvPr/>
        </p:nvSpPr>
        <p:spPr>
          <a:xfrm>
            <a:off x="539496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Still unknown</a:t>
            </a:r>
            <a:endParaRPr lang="en-US" sz="1800" dirty="0"/>
          </a:p>
        </p:txBody>
      </p:sp>
      <p:sp>
        <p:nvSpPr>
          <p:cNvPr id="10" name="Unknown text"/>
          <p:cNvSpPr txBox="1"/>
          <p:nvPr/>
        </p:nvSpPr>
        <p:spPr>
          <a:xfrm>
            <a:off x="4892040" y="2057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Whether the labels are right, the summaries are faithful, and the data is useful.</a:t>
            </a:r>
            <a:endParaRPr lang="en-US" sz="1600" dirty="0"/>
          </a:p>
        </p:txBody>
      </p:sp>
      <p:sp>
        <p:nvSpPr>
          <p:cNvPr id="11" name="Action band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Action text"/>
          <p:cNvSpPr txBox="1"/>
          <p:nvPr/>
        </p:nvSpPr>
        <p:spPr>
          <a:xfrm>
            <a:off x="822960" y="3657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Read the low-scoring rows yourself. Add simple rule checks next to the judge, such as allowing only three sentiment labels.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you could use it</a:t>
            </a:r>
            <a:endParaRPr lang="en-US" sz="3600" dirty="0"/>
          </a:p>
        </p:txBody>
      </p:sp>
      <p:sp>
        <p:nvSpPr>
          <p:cNvPr id="3" name="Use card 1"/>
          <p:cNvSpPr/>
          <p:nvPr/>
        </p:nvSpPr>
        <p:spPr>
          <a:xfrm>
            <a:off x="548640" y="128016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Use icon 1 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Use icon 1" descr="Us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Use title 1"/>
          <p:cNvSpPr txBox="1"/>
          <p:nvPr/>
        </p:nvSpPr>
        <p:spPr>
          <a:xfrm>
            <a:off x="77724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 datasets</a:t>
            </a:r>
            <a:endParaRPr lang="en-US" sz="1600" dirty="0"/>
          </a:p>
        </p:txBody>
      </p:sp>
      <p:sp>
        <p:nvSpPr>
          <p:cNvPr id="7" name="Use text 1"/>
          <p:cNvSpPr txBox="1"/>
          <p:nvPr/>
        </p:nvSpPr>
        <p:spPr>
          <a:xfrm>
            <a:off x="777240" y="29718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test sets when real data is hard to get.</a:t>
            </a:r>
            <a:endParaRPr lang="en-US" sz="1400" dirty="0"/>
          </a:p>
        </p:txBody>
      </p:sp>
      <p:sp>
        <p:nvSpPr>
          <p:cNvPr id="8" name="Use card 2"/>
          <p:cNvSpPr/>
          <p:nvPr/>
        </p:nvSpPr>
        <p:spPr>
          <a:xfrm>
            <a:off x="2606040" y="128016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9" name="Use icon 2 circle"/>
          <p:cNvSpPr/>
          <p:nvPr/>
        </p:nvSpPr>
        <p:spPr>
          <a:xfrm>
            <a:off x="283464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se icon 2" descr="Us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1668780"/>
            <a:ext cx="320040" cy="320040"/>
          </a:xfrm>
          <a:prstGeom prst="rect">
            <a:avLst/>
          </a:prstGeom>
        </p:spPr>
      </p:pic>
      <p:sp>
        <p:nvSpPr>
          <p:cNvPr id="11" name="Use title 2"/>
          <p:cNvSpPr txBox="1"/>
          <p:nvPr/>
        </p:nvSpPr>
        <p:spPr>
          <a:xfrm>
            <a:off x="283464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 and case-study questions</a:t>
            </a:r>
            <a:endParaRPr lang="en-US" sz="1600" dirty="0"/>
          </a:p>
        </p:txBody>
      </p:sp>
      <p:sp>
        <p:nvSpPr>
          <p:cNvPr id="12" name="Use text 2"/>
          <p:cNvSpPr txBox="1"/>
          <p:nvPr/>
        </p:nvSpPr>
        <p:spPr>
          <a:xfrm>
            <a:off x="2834640" y="29718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Draft many variations, then review them yourself.</a:t>
            </a:r>
            <a:endParaRPr lang="en-US" sz="1400" dirty="0"/>
          </a:p>
        </p:txBody>
      </p:sp>
      <p:sp>
        <p:nvSpPr>
          <p:cNvPr id="13" name="Use card 3"/>
          <p:cNvSpPr/>
          <p:nvPr/>
        </p:nvSpPr>
        <p:spPr>
          <a:xfrm>
            <a:off x="4663440" y="128016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4" name="Use icon 3 circle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Use icon 3" descr="Us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6" name="Use title 3"/>
          <p:cNvSpPr txBox="1"/>
          <p:nvPr/>
        </p:nvSpPr>
        <p:spPr>
          <a:xfrm>
            <a:off x="489204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Classroom exercises</a:t>
            </a:r>
            <a:endParaRPr lang="en-US" sz="1600" dirty="0"/>
          </a:p>
        </p:txBody>
      </p:sp>
      <p:sp>
        <p:nvSpPr>
          <p:cNvPr id="17" name="Use text 3"/>
          <p:cNvSpPr txBox="1"/>
          <p:nvPr/>
        </p:nvSpPr>
        <p:spPr>
          <a:xfrm>
            <a:off x="4892040" y="29718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each group its own realistic data to analyze.</a:t>
            </a:r>
            <a:endParaRPr lang="en-US" sz="1400" dirty="0"/>
          </a:p>
        </p:txBody>
      </p:sp>
      <p:sp>
        <p:nvSpPr>
          <p:cNvPr id="18" name="Use card 4"/>
          <p:cNvSpPr/>
          <p:nvPr/>
        </p:nvSpPr>
        <p:spPr>
          <a:xfrm>
            <a:off x="6720840" y="128016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9" name="Use icon 4 circle"/>
          <p:cNvSpPr/>
          <p:nvPr/>
        </p:nvSpPr>
        <p:spPr>
          <a:xfrm>
            <a:off x="694944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Use icon 4" descr="Us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1668780"/>
            <a:ext cx="320040" cy="320040"/>
          </a:xfrm>
          <a:prstGeom prst="rect">
            <a:avLst/>
          </a:prstGeom>
        </p:spPr>
      </p:pic>
      <p:sp>
        <p:nvSpPr>
          <p:cNvPr id="21" name="Use title 4"/>
          <p:cNvSpPr txBox="1"/>
          <p:nvPr/>
        </p:nvSpPr>
        <p:spPr>
          <a:xfrm>
            <a:off x="694944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 projects</a:t>
            </a:r>
            <a:endParaRPr lang="en-US" sz="1600" dirty="0"/>
          </a:p>
        </p:txBody>
      </p:sp>
      <p:sp>
        <p:nvSpPr>
          <p:cNvPr id="22" name="Use text 4"/>
          <p:cNvSpPr txBox="1"/>
          <p:nvPr/>
        </p:nvSpPr>
        <p:spPr>
          <a:xfrm>
            <a:off x="6949440" y="29718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made-up records that follow real patterns, with no personal data.</a:t>
            </a:r>
            <a:endParaRPr lang="en-US" sz="1400" dirty="0"/>
          </a:p>
        </p:txBody>
      </p:sp>
      <p:sp>
        <p:nvSpPr>
          <p:cNvPr id="23" name="Caption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Always review generated data before using it for grading or research.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Take this with you</a:t>
            </a:r>
            <a:endParaRPr lang="en-US" sz="3600" dirty="0"/>
          </a:p>
        </p:txBody>
      </p:sp>
      <p:sp>
        <p:nvSpPr>
          <p:cNvPr id="3" name="Takeaway number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akeaway 1"/>
          <p:cNvSpPr txBox="1"/>
          <p:nvPr/>
        </p:nvSpPr>
        <p:spPr>
          <a:xfrm>
            <a:off x="1280160" y="13716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Preview small before you generate at scale.</a:t>
            </a:r>
            <a:endParaRPr lang="en-US" sz="1800" dirty="0"/>
          </a:p>
        </p:txBody>
      </p:sp>
      <p:sp>
        <p:nvSpPr>
          <p:cNvPr id="5" name="Takeaway number 2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akeaway 2"/>
          <p:cNvSpPr txBox="1"/>
          <p:nvPr/>
        </p:nvSpPr>
        <p:spPr>
          <a:xfrm>
            <a:off x="1280160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Score outputs with a judge, then read the low scores yourself.</a:t>
            </a:r>
            <a:endParaRPr lang="en-US" sz="1800" dirty="0"/>
          </a:p>
        </p:txBody>
      </p:sp>
      <p:sp>
        <p:nvSpPr>
          <p:cNvPr id="7" name="Takeaway number 3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akeaway 3"/>
          <p:cNvSpPr txBox="1"/>
          <p:nvPr/>
        </p:nvSpPr>
        <p:spPr>
          <a:xfrm>
            <a:off x="128016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Keep API keys in Colab Secrets, never in the notebook.</a:t>
            </a:r>
            <a:endParaRPr lang="en-US" sz="1800" dirty="0"/>
          </a:p>
        </p:txBody>
      </p:sp>
      <p:sp>
        <p:nvSpPr>
          <p:cNvPr id="9" name="Next card"/>
          <p:cNvSpPr/>
          <p:nvPr/>
        </p:nvSpPr>
        <p:spPr>
          <a:xfrm>
            <a:off x="5852160" y="1371600"/>
            <a:ext cx="2743200" cy="246888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/>
        </p:spPr>
      </p:sp>
      <p:sp>
        <p:nvSpPr>
          <p:cNvPr id="10" name="Next label"/>
          <p:cNvSpPr txBox="1"/>
          <p:nvPr/>
        </p:nvSpPr>
        <p:spPr>
          <a:xfrm>
            <a:off x="61264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NEXT</a:t>
            </a:r>
            <a:endParaRPr lang="en-US" sz="1200" dirty="0"/>
          </a:p>
        </p:txBody>
      </p:sp>
      <p:sp>
        <p:nvSpPr>
          <p:cNvPr id="11" name="Next title"/>
          <p:cNvSpPr txBox="1"/>
          <p:nvPr/>
        </p:nvSpPr>
        <p:spPr>
          <a:xfrm>
            <a:off x="612648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run it in Colab</a:t>
            </a:r>
            <a:endParaRPr lang="en-US" sz="2600" dirty="0"/>
          </a:p>
        </p:txBody>
      </p:sp>
      <p:sp>
        <p:nvSpPr>
          <p:cNvPr id="12" name="Next text"/>
          <p:cNvSpPr txBox="1"/>
          <p:nvPr/>
        </p:nvSpPr>
        <p:spPr>
          <a:xfrm>
            <a:off x="61264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Greetings first, then the reviews.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 Green">
  <a:themeElements>
    <a:clrScheme name="Synthetic Green">
      <a:dk1>
        <a:srgbClr val="1A1D1F"/>
      </a:dk1>
      <a:lt1>
        <a:srgbClr val="FFFFFF"/>
      </a:lt1>
      <a:dk2>
        <a:srgbClr val="14211A"/>
      </a:dk2>
      <a:lt2>
        <a:srgbClr val="F0F5E8"/>
      </a:lt2>
      <a:accent1>
        <a:srgbClr val="76B900"/>
      </a:accent1>
      <a:accent2>
        <a:srgbClr val="3E6B00"/>
      </a:accent2>
      <a:accent3>
        <a:srgbClr val="0F766E"/>
      </a:accent3>
      <a:accent4>
        <a:srgbClr val="D97706"/>
      </a:accent4>
      <a:accent5>
        <a:srgbClr val="5F6B66"/>
      </a:accent5>
      <a:accent6>
        <a:srgbClr val="A3D63F"/>
      </a:accent6>
      <a:hlink>
        <a:srgbClr val="3E6B00"/>
      </a:hlink>
      <a:folHlink>
        <a:srgbClr val="5F6B66"/>
      </a:folHlink>
    </a:clrScheme>
    <a:fontScheme name="Synthetic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data with NeMo Data Designer</dc:title>
  <dc:subject>PptxGenJS Presentation</dc:subject>
  <dc:creator>PptxGenJS</dc:creator>
  <cp:lastModifiedBy>PptxGenJS</cp:lastModifiedBy>
  <cp:revision>1</cp:revision>
  <dcterms:created xsi:type="dcterms:W3CDTF">2026-10-22T05:10:01Z</dcterms:created>
  <dcterms:modified xsi:type="dcterms:W3CDTF">2026-10-22T05:10:01Z</dcterms:modified>
</cp:coreProperties>
</file>