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ed0c1b-5355-99f1-123b-c74f2761f971}">
          <p14:sldIdLst>
            <p14:sldId id="256"/>
          </p14:sldIdLst>
        </p14:section>
        <p14:section name="Setup" id="{30dfd4e1-e4a7-574f-02e5-1d0de3554b1e}">
          <p14:sldIdLst>
            <p14:sldId id="257"/>
            <p14:sldId id="258"/>
            <p14:sldId id="259"/>
          </p14:sldIdLst>
        </p14:section>
        <p14:section name="Training" id="{1fcb4a47-429b-4a03-c879-2754f83a112e}">
          <p14:sldIdLst>
            <p14:sldId id="260"/>
            <p14:sldId id="261"/>
            <p14:sldId id="262"/>
          </p14:sldIdLst>
        </p14:section>
        <p14:section name="Evaluation" id="{8ce8b79a-75d0-58e5-a6ef-7946497920f7}">
          <p14:sldIdLst>
            <p14:sldId id="263"/>
            <p14:sldId id="264"/>
            <p14:sldId id="265"/>
          </p14:sldIdLst>
        </p14:section>
        <p14:section name="Wrap-up" id="{eb23266e-ac78-f53a-9a2f-9ea7ee283742}">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loss</c:v>
                </c:pt>
              </c:strCache>
            </c:strRef>
          </c:tx>
          <c:spPr>
            <a:solidFill>
              <a:srgbClr val="3E6B00"/>
            </a:solidFill>
            <a:ln w="38100" cap="flat">
              <a:solidFill>
                <a:srgbClr val="3E6B00"/>
              </a:solidFill>
              <a:prstDash val="solid"/>
              <a:round/>
            </a:ln>
            <a:effectLst/>
          </c:spPr>
          <c:invertIfNegative val="0"/>
          <c:dLbls>
            <c:numFmt formatCode="0.00" sourceLinked="0"/>
            <c:txPr>
              <a:bodyPr/>
              <a:lstStyle/>
              <a:p>
                <a:pPr>
                  <a:defRPr b="0" i="0" strike="noStrike" sz="1200" u="none">
                    <a:solidFill>
                      <a:srgbClr val="1A1D1F"/>
                    </a:solidFill>
                    <a:latin typeface="Calibri"/>
                  </a:defRPr>
                </a:pPr>
              </a:p>
            </c:txPr>
            <c:dLblPos val="t"/>
            <c:showLegendKey val="0"/>
            <c:showVal val="1"/>
            <c:showCatName val="0"/>
            <c:showSerName val="0"/>
            <c:showPercent val="0"/>
            <c:showBubbleSize val="0"/>
            <c:showLeaderLines val="0"/>
          </c:dLbls>
          <c:marker>
            <c:symbol val="circle"/>
            <c:size val="8"/>
            <c:spPr>
              <a:solidFill>
                <a:srgbClr val="3E6B00"/>
              </a:solidFill>
              <a:ln w="9525" cap="flat">
                <a:solidFill>
                  <a:srgbClr val="3E6B00"/>
                </a:solidFill>
                <a:prstDash val="solid"/>
                <a:round/>
              </a:ln>
              <a:effectLst/>
            </c:spPr>
          </c:marker>
          <c:cat>
            <c:multiLvlStrRef>
              <c:f>Sheet1!$A$2:$A$9</c:f>
              <c:multiLvlStrCache>
                <c:ptCount val="8"/>
                <c:lvl>
                  <c:pt idx="0">
                    <c:v>0-24</c:v>
                  </c:pt>
                  <c:pt idx="1">
                    <c:v>25-49</c:v>
                  </c:pt>
                  <c:pt idx="2">
                    <c:v>50-74</c:v>
                  </c:pt>
                  <c:pt idx="3">
                    <c:v>75-99</c:v>
                  </c:pt>
                  <c:pt idx="4">
                    <c:v>100-124</c:v>
                  </c:pt>
                  <c:pt idx="5">
                    <c:v>125-149</c:v>
                  </c:pt>
                  <c:pt idx="6">
                    <c:v>150-174</c:v>
                  </c:pt>
                  <c:pt idx="7">
                    <c:v>175-199</c:v>
                  </c:pt>
                </c:lvl>
              </c:multiLvlStrCache>
            </c:multiLvlStrRef>
          </c:cat>
          <c:val>
            <c:numRef>
              <c:f>Sheet1!$B$2:$B$9</c:f>
              <c:numCache>
                <c:formatCode>General</c:formatCode>
                <c:ptCount val="8"/>
                <c:pt idx="0">
                  <c:v>1.75</c:v>
                </c:pt>
                <c:pt idx="1">
                  <c:v>1.79</c:v>
                </c:pt>
                <c:pt idx="2">
                  <c:v>2.04</c:v>
                </c:pt>
                <c:pt idx="3">
                  <c:v>1.95</c:v>
                </c:pt>
                <c:pt idx="4">
                  <c:v>1.65</c:v>
                </c:pt>
                <c:pt idx="5">
                  <c:v>1.66</c:v>
                </c:pt>
                <c:pt idx="6">
                  <c:v>1.69</c:v>
                </c:pt>
                <c:pt idx="7">
                  <c:v>1.52</c:v>
                </c:pt>
              </c:numCache>
            </c:numRef>
          </c:val>
          <c:smooth val="0"/>
        </c:ser>
        <c:dLbls>
          <c:numFmt formatCode="0.00" sourceLinked="0"/>
          <c:txPr>
            <a:bodyPr/>
            <a:lstStyle/>
            <a:p>
              <a:pPr>
                <a:defRPr b="0" i="0" strike="noStrike" sz="1200" u="none">
                  <a:solidFill>
                    <a:srgbClr val="1A1D1F"/>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66"/>
                </a:solidFill>
                <a:latin typeface="Calibri"/>
              </a:defRPr>
            </a:pPr>
            <a:endParaRPr lang="en-US"/>
          </a:p>
        </c:txPr>
        <c:crossAx val="2094734552"/>
        <c:crosses val="autoZero"/>
        <c:auto val="1"/>
        <c:lblAlgn val="ctr"/>
        <c:noMultiLvlLbl val="1"/>
      </c:catAx>
      <c:valAx>
        <c:axId val="2094734552"/>
        <c:scaling>
          <c:orientation val="minMax"/>
          <c:max val="2.5"/>
          <c:min val="1"/>
        </c:scaling>
        <c:delete val="0"/>
        <c:axPos val="l"/>
        <c:majorGridlines>
          <c:spPr>
            <a:ln w="6350" cap="flat">
              <a:solidFill>
                <a:srgbClr val="DCE5D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66"/>
                </a:solidFill>
                <a:latin typeface="Calibri"/>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Validation loss</c:v>
                </c:pt>
              </c:strCache>
            </c:strRef>
          </c:tx>
          <c:spPr>
            <a:solidFill>
              <a:srgbClr val="76B900"/>
            </a:solidFill>
            <a:ln w="38100" cap="flat">
              <a:solidFill>
                <a:srgbClr val="76B900"/>
              </a:solidFill>
              <a:prstDash val="solid"/>
              <a:round/>
            </a:ln>
            <a:effectLst/>
          </c:spPr>
          <c:invertIfNegative val="0"/>
          <c:dLbls>
            <c:numFmt formatCode="0.0000" sourceLinked="0"/>
            <c:txPr>
              <a:bodyPr/>
              <a:lstStyle/>
              <a:p>
                <a:pPr>
                  <a:defRPr b="0" i="0" strike="noStrike" sz="1200" u="none">
                    <a:solidFill>
                      <a:srgbClr val="1A1D1F"/>
                    </a:solidFill>
                    <a:latin typeface="Calibri"/>
                  </a:defRPr>
                </a:pPr>
              </a:p>
            </c:txPr>
            <c:dLblPos val="t"/>
            <c:showLegendKey val="0"/>
            <c:showVal val="1"/>
            <c:showCatName val="0"/>
            <c:showSerName val="0"/>
            <c:showPercent val="0"/>
            <c:showBubbleSize val="0"/>
            <c:showLeaderLines val="0"/>
          </c:dLbls>
          <c:marker>
            <c:symbol val="circle"/>
            <c:size val="8"/>
            <c:spPr>
              <a:solidFill>
                <a:srgbClr val="76B900"/>
              </a:solidFill>
              <a:ln w="9525" cap="flat">
                <a:solidFill>
                  <a:srgbClr val="76B900"/>
                </a:solidFill>
                <a:prstDash val="solid"/>
                <a:round/>
              </a:ln>
              <a:effectLst/>
            </c:spPr>
          </c:marker>
          <c:cat>
            <c:multiLvlStrRef>
              <c:f>Sheet1!$A$2:$A$5</c:f>
              <c:multiLvlStrCache>
                <c:ptCount val="4"/>
                <c:lvl>
                  <c:pt idx="0">
                    <c:v>Step 49</c:v>
                  </c:pt>
                  <c:pt idx="1">
                    <c:v>Step 99</c:v>
                  </c:pt>
                  <c:pt idx="2">
                    <c:v>Step 149</c:v>
                  </c:pt>
                  <c:pt idx="3">
                    <c:v>Step 199</c:v>
                  </c:pt>
                </c:lvl>
              </c:multiLvlStrCache>
            </c:multiLvlStrRef>
          </c:cat>
          <c:val>
            <c:numRef>
              <c:f>Sheet1!$B$2:$B$5</c:f>
              <c:numCache>
                <c:formatCode>General</c:formatCode>
                <c:ptCount val="4"/>
                <c:pt idx="0">
                  <c:v>1.8487</c:v>
                </c:pt>
                <c:pt idx="1">
                  <c:v>1.8418</c:v>
                </c:pt>
                <c:pt idx="2">
                  <c:v>1.834</c:v>
                </c:pt>
                <c:pt idx="3">
                  <c:v>1.8312</c:v>
                </c:pt>
              </c:numCache>
            </c:numRef>
          </c:val>
          <c:smooth val="0"/>
        </c:ser>
        <c:dLbls>
          <c:numFmt formatCode="0.0000" sourceLinked="0"/>
          <c:txPr>
            <a:bodyPr/>
            <a:lstStyle/>
            <a:p>
              <a:pPr>
                <a:defRPr b="0" i="0" strike="noStrike" sz="1200" u="none">
                  <a:solidFill>
                    <a:srgbClr val="1A1D1F"/>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66"/>
                </a:solidFill>
                <a:latin typeface="Calibri"/>
              </a:defRPr>
            </a:pPr>
            <a:endParaRPr lang="en-US"/>
          </a:p>
        </c:txPr>
        <c:crossAx val="2094734552"/>
        <c:crosses val="autoZero"/>
        <c:auto val="1"/>
        <c:lblAlgn val="ctr"/>
        <c:noMultiLvlLbl val="1"/>
      </c:catAx>
      <c:valAx>
        <c:axId val="2094734552"/>
        <c:scaling>
          <c:orientation val="minMax"/>
          <c:max val="1.9"/>
          <c:min val="1.7"/>
        </c:scaling>
        <c:delete val="0"/>
        <c:axPos val="l"/>
        <c:majorGridlines>
          <c:spPr>
            <a:ln w="6350" cap="flat">
              <a:solidFill>
                <a:srgbClr val="DCE5D2"/>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66"/>
                </a:solidFill>
                <a:latin typeface="Calibri"/>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Answer-token loss</c:v>
                </c:pt>
              </c:strCache>
            </c:strRef>
          </c:tx>
          <c:spPr>
            <a:solidFill>
              <a:srgbClr val="A9B5A0"/>
            </a:solidFill>
            <a:effectLst/>
          </c:spPr>
          <c:invertIfNegative val="0"/>
          <c:dLbls>
            <c:numFmt formatCode="0.0000" sourceLinked="0"/>
            <c:txPr>
              <a:bodyPr/>
              <a:lstStyle/>
              <a:p>
                <a:pPr>
                  <a:defRPr b="0" i="0" strike="noStrike" sz="1200" u="none">
                    <a:solidFill>
                      <a:srgbClr val="1A1D1F"/>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A0"/>
              </a:solidFill>
              <a:effectLst/>
            </c:spPr>
          </c:dPt>
          <c:dPt>
            <c:idx val="1"/>
            <c:invertIfNegative val="0"/>
            <c:bubble3D val="0"/>
            <c:spPr>
              <a:solidFill>
                <a:srgbClr val="76B900"/>
              </a:solidFill>
              <a:effectLst/>
            </c:spPr>
          </c:dPt>
          <c:cat>
            <c:multiLvlStrRef>
              <c:f>Sheet1!$A$2:$A$3</c:f>
              <c:multiLvlStrCache>
                <c:ptCount val="2"/>
                <c:lvl>
                  <c:pt idx="0">
                    <c:v>Base</c:v>
                  </c:pt>
                  <c:pt idx="1">
                    <c:v>Fine-tuned</c:v>
                  </c:pt>
                </c:lvl>
              </c:multiLvlStrCache>
            </c:multiLvlStrRef>
          </c:cat>
          <c:val>
            <c:numRef>
              <c:f>Sheet1!$B$2:$B$3</c:f>
              <c:numCache>
                <c:formatCode>General</c:formatCode>
                <c:ptCount val="2"/>
                <c:pt idx="0">
                  <c:v>1.6758</c:v>
                </c:pt>
                <c:pt idx="1">
                  <c:v>1.6251</c:v>
                </c:pt>
              </c:numCache>
            </c:numRef>
          </c:val>
        </c:ser>
        <c:dLbls>
          <c:numFmt formatCode="0.0000" sourceLinked="0"/>
          <c:txPr>
            <a:bodyPr/>
            <a:lstStyle/>
            <a:p>
              <a:pPr>
                <a:defRPr b="0" i="0" strike="noStrike" sz="1200" u="none">
                  <a:solidFill>
                    <a:srgbClr val="1A1D1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66"/>
                </a:solidFill>
                <a:latin typeface="Calibri"/>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6350" cap="flat">
              <a:solidFill>
                <a:srgbClr val="DCE5D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66"/>
                </a:solidFill>
                <a:latin typeface="Calibri"/>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Perplexity</c:v>
                </c:pt>
              </c:strCache>
            </c:strRef>
          </c:tx>
          <c:spPr>
            <a:solidFill>
              <a:srgbClr val="A9B5A0"/>
            </a:solidFill>
            <a:effectLst/>
          </c:spPr>
          <c:invertIfNegative val="0"/>
          <c:dLbls>
            <c:numFmt formatCode="0.00" sourceLinked="0"/>
            <c:txPr>
              <a:bodyPr/>
              <a:lstStyle/>
              <a:p>
                <a:pPr>
                  <a:defRPr b="0" i="0" strike="noStrike" sz="1200" u="none">
                    <a:solidFill>
                      <a:srgbClr val="1A1D1F"/>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A0"/>
              </a:solidFill>
              <a:effectLst/>
            </c:spPr>
          </c:dPt>
          <c:dPt>
            <c:idx val="1"/>
            <c:invertIfNegative val="0"/>
            <c:bubble3D val="0"/>
            <c:spPr>
              <a:solidFill>
                <a:srgbClr val="76B900"/>
              </a:solidFill>
              <a:effectLst/>
            </c:spPr>
          </c:dPt>
          <c:cat>
            <c:multiLvlStrRef>
              <c:f>Sheet1!$A$2:$A$3</c:f>
              <c:multiLvlStrCache>
                <c:ptCount val="2"/>
                <c:lvl>
                  <c:pt idx="0">
                    <c:v>Base</c:v>
                  </c:pt>
                  <c:pt idx="1">
                    <c:v>Fine-tuned</c:v>
                  </c:pt>
                </c:lvl>
              </c:multiLvlStrCache>
            </c:multiLvlStrRef>
          </c:cat>
          <c:val>
            <c:numRef>
              <c:f>Sheet1!$B$2:$B$3</c:f>
              <c:numCache>
                <c:formatCode>General</c:formatCode>
                <c:ptCount val="2"/>
                <c:pt idx="0">
                  <c:v>5.3429</c:v>
                </c:pt>
                <c:pt idx="1">
                  <c:v>5.0788</c:v>
                </c:pt>
              </c:numCache>
            </c:numRef>
          </c:val>
        </c:ser>
        <c:dLbls>
          <c:numFmt formatCode="0.00" sourceLinked="0"/>
          <c:txPr>
            <a:bodyPr/>
            <a:lstStyle/>
            <a:p>
              <a:pPr>
                <a:defRPr b="0" i="0" strike="noStrike" sz="1200" u="none">
                  <a:solidFill>
                    <a:srgbClr val="1A1D1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66"/>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DCE5D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66"/>
                </a:solidFill>
                <a:latin typeface="Calibr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notebook IFT_HF.ipynb. Every number in this deck comes from the notebook's saved outputs. The three bars are the Dolly columns used for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notebook cell 1 output (record shown, response truncated) and cell 9 (answer_only_loss_mask). The conceptual points about base vs instruction-tuned models are general background, not notebook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notebook cells 1 to 3 and cell 9. The notebook shuffles before sampling so the first 1,000 rows are not biased by the original ordering. Split sizes come from the cell 2 output: Train 800, Validation 100, Test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parameter counts from the training log (Total parameters: 1,738,007,552). FP16 and FP32 sizes are from the notebook's markdown note. 6.48 GiB is the maximum per-step 'mem' value in the training log. The T4 detail comes from a comment in the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PeftConfig in the YAML (dim 16, alpha 32, dropout 0.05, target_modules *_proj) and the parameter counts in the training log. The meaning of each setting follows the notebook's own markdown note. After training, the notebook loads the adapter on top of the base model with PeftModel.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cell 9 (YAML) and the training log: 'Max train steps: 200', 'Gradient accumulation steps: 4', progress bar showed 11:00 at step 200, checkpoints saved at steps 49, 99, 149 and 199. Parallelism sizes dp, tp and cp are all 1. AdamW, MaskedCrossEntropy, seq_length 512 with truncation, and the learning-rate scheduler being unavailable (constant lr 2e-05) are also in the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 training log. Left chart: block averages that I computed from the 200 per-step training losses in the log (step 0 loss 1.4539, step 199 loss 1.8616). Right chart: the [val] lines at steps 49, 99, 149 and 199: 1.8487, 1.8418, 1.8340, 1.8312. Number of validation answer tokens: 9,129.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notebook cell 15 output. Base: answer_token_loss 1.6757704, perplexity 5.3429098. Fine-tuned: answer_token_loss 1.6250820, perplexity 5.0788354. Both on 7,492 answer tokens over 100 test examples. Perplexity is exp(loss). The deltas are my arithmetic. Marked preliminary because the custom evaluation function copies NeMo's formatting by hand and the notebook never checks that its token counts or loss match NeMo's. Do not compare these numbers with the validation loss from training: different data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notebook cell 13, Example 1 (first of the first five test rows, printed in order). Texts are truncated for display with ellipses. The prompt format used for generation was '### Instruction: ... ### Response:' with greedy decoding and max_new_tokens=300.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notebook cell 13, Examples 2 and 3 (printed in order, not selected for results). Example 2: the fine-tuned answer puts Gelato under Mexican, while the reference says Italian. The base answer was cut off at 300 new tokens before a final list. Example 3: the base answer's final bullets were 'Stupendemys: Extinct' and 'Gray Whale: Alive'. Examples 4 and 5 in the notebook are not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point maps to the notebook. Limitations: the generation prompt in cell 13 uses '### Instruction / ### Response' and no context, while training (cell 9 mapping) joins context and instruction without a template. The notebook has no correctness or human evaluation. Example 5 shows a repetitive list of 'The Milwaukee Brewers ...' items from the fine-tuned model; Example 4's fine-tuned answer does not match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restates only what the notebook shows. The next steps are plans, not completed work. Step 1 is a concrete check: the notebook's evaluation function run on the validation file should reproduce roughly the 9,129 answer tokens and 1.8312 loss that NeMo logged for the step-199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120640" cy="18288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640080" y="3154680"/>
            <a:ext cx="484632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640080" y="731520"/>
            <a:ext cx="41148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RESULTS FROM ONE RUN</a:t>
            </a:r>
            <a:endParaRPr lang="en-US" sz="1200" dirty="0"/>
          </a:p>
        </p:txBody>
      </p:sp>
      <p:sp>
        <p:nvSpPr>
          <p:cNvPr id="3" name="Text 0"/>
          <p:cNvSpPr/>
          <p:nvPr>
            <p:ph idx="100" type="title" hasCustomPrompt="1"/>
          </p:nvPr>
        </p:nvSpPr>
        <p:spPr>
          <a:xfrm>
            <a:off x="640080" y="1097280"/>
            <a:ext cx="5120640" cy="1828800"/>
          </a:xfrm>
          <a:prstGeom prst="rect">
            <a:avLst/>
          </a:prstGeom>
          <a:noFill/>
          <a:ln/>
        </p:spPr>
        <p:txBody>
          <a:bodyPr wrap="square" lIns="0" tIns="0" rIns="0" bIns="0" rtlCol="0" anchor="b"/>
          <a:lstStyle/>
          <a:p>
            <a:pPr algn="l" indent="0" marL="0">
              <a:buNone/>
            </a:pPr>
            <a:r>
              <a:rPr lang="en-US" sz="3800" b="1" dirty="0">
                <a:solidFill>
                  <a:schemeClr val="bg1"/>
                </a:solidFill>
              </a:rPr>
              <a:t>Instruction fine-tuning with LoRA</a:t>
            </a:r>
            <a:endParaRPr lang="en-US" sz="3800" dirty="0"/>
          </a:p>
        </p:txBody>
      </p:sp>
      <p:sp>
        <p:nvSpPr>
          <p:cNvPr id="4" name="Text 0"/>
          <p:cNvSpPr/>
          <p:nvPr>
            <p:ph idx="101" type="body" hasCustomPrompt="1"/>
          </p:nvPr>
        </p:nvSpPr>
        <p:spPr>
          <a:xfrm>
            <a:off x="640080" y="3154680"/>
            <a:ext cx="4846320" cy="1005840"/>
          </a:xfrm>
          <a:prstGeom prst="rect">
            <a:avLst/>
          </a:prstGeom>
          <a:noFill/>
          <a:ln/>
        </p:spPr>
        <p:txBody>
          <a:bodyPr wrap="square" lIns="0" tIns="0" rIns="0" bIns="0" rtlCol="0" anchor="t"/>
          <a:lstStyle/>
          <a:p>
            <a:pPr algn="l" indent="0" marL="0">
              <a:buNone/>
            </a:pPr>
            <a:r>
              <a:rPr lang="en-US" sz="1800" dirty="0">
                <a:solidFill>
                  <a:schemeClr val="bg2"/>
                </a:solidFill>
              </a:rPr>
              <a:t>Qwen3-1.7B-Base, 800 Dolly examples, NeMo Automodel.</a:t>
            </a:r>
            <a:endParaRPr lang="en-US" sz="1800" dirty="0"/>
          </a:p>
        </p:txBody>
      </p:sp>
      <p:sp>
        <p:nvSpPr>
          <p:cNvPr id="5" name="Instruction bar"/>
          <p:cNvSpPr/>
          <p:nvPr/>
        </p:nvSpPr>
        <p:spPr>
          <a:xfrm>
            <a:off x="6309360" y="1554480"/>
            <a:ext cx="2377440" cy="594360"/>
          </a:xfrm>
          <a:prstGeom prst="roundRect">
            <a:avLst>
              <a:gd name="adj" fmla="val 15385"/>
            </a:avLst>
          </a:prstGeom>
          <a:solidFill>
            <a:schemeClr val="tx2"/>
          </a:solidFill>
          <a:ln w="19050">
            <a:solidFill>
              <a:schemeClr val="accent1"/>
            </a:solidFill>
            <a:prstDash val="solid"/>
          </a:ln>
        </p:spPr>
      </p:sp>
      <p:sp>
        <p:nvSpPr>
          <p:cNvPr id="6" name="Instruction label"/>
          <p:cNvSpPr txBox="1"/>
          <p:nvPr/>
        </p:nvSpPr>
        <p:spPr>
          <a:xfrm>
            <a:off x="6309360" y="1554480"/>
            <a:ext cx="2377440" cy="594360"/>
          </a:xfrm>
          <a:prstGeom prst="rect">
            <a:avLst/>
          </a:prstGeom>
          <a:noFill/>
          <a:ln/>
        </p:spPr>
        <p:txBody>
          <a:bodyPr wrap="square" lIns="0" tIns="0" rIns="0" bIns="0" rtlCol="0" anchor="ctr"/>
          <a:lstStyle/>
          <a:p>
            <a:pPr algn="ctr" indent="0" marL="0">
              <a:buNone/>
            </a:pPr>
            <a:r>
              <a:rPr lang="en-US" sz="1600" b="1" dirty="0">
                <a:solidFill>
                  <a:schemeClr val="bg1"/>
                </a:solidFill>
              </a:rPr>
              <a:t>Instruction</a:t>
            </a:r>
            <a:endParaRPr lang="en-US" sz="1600" dirty="0"/>
          </a:p>
        </p:txBody>
      </p:sp>
      <p:sp>
        <p:nvSpPr>
          <p:cNvPr id="7" name="Context bar"/>
          <p:cNvSpPr/>
          <p:nvPr/>
        </p:nvSpPr>
        <p:spPr>
          <a:xfrm>
            <a:off x="6309360" y="2331720"/>
            <a:ext cx="2377440" cy="594360"/>
          </a:xfrm>
          <a:prstGeom prst="roundRect">
            <a:avLst>
              <a:gd name="adj" fmla="val 15385"/>
            </a:avLst>
          </a:prstGeom>
          <a:solidFill>
            <a:schemeClr val="tx2"/>
          </a:solidFill>
          <a:ln w="19050">
            <a:solidFill>
              <a:schemeClr val="accent1"/>
            </a:solidFill>
            <a:prstDash val="solid"/>
          </a:ln>
        </p:spPr>
      </p:sp>
      <p:sp>
        <p:nvSpPr>
          <p:cNvPr id="8" name="Context label"/>
          <p:cNvSpPr txBox="1"/>
          <p:nvPr/>
        </p:nvSpPr>
        <p:spPr>
          <a:xfrm>
            <a:off x="6309360" y="2331720"/>
            <a:ext cx="2377440" cy="594360"/>
          </a:xfrm>
          <a:prstGeom prst="rect">
            <a:avLst/>
          </a:prstGeom>
          <a:noFill/>
          <a:ln/>
        </p:spPr>
        <p:txBody>
          <a:bodyPr wrap="square" lIns="0" tIns="0" rIns="0" bIns="0" rtlCol="0" anchor="ctr"/>
          <a:lstStyle/>
          <a:p>
            <a:pPr algn="ctr" indent="0" marL="0">
              <a:buNone/>
            </a:pPr>
            <a:r>
              <a:rPr lang="en-US" sz="1600" b="1" dirty="0">
                <a:solidFill>
                  <a:schemeClr val="bg1"/>
                </a:solidFill>
              </a:rPr>
              <a:t>Context</a:t>
            </a:r>
            <a:endParaRPr lang="en-US" sz="1600" dirty="0"/>
          </a:p>
        </p:txBody>
      </p:sp>
      <p:sp>
        <p:nvSpPr>
          <p:cNvPr id="9" name="Response bar"/>
          <p:cNvSpPr/>
          <p:nvPr/>
        </p:nvSpPr>
        <p:spPr>
          <a:xfrm>
            <a:off x="6309360" y="3108960"/>
            <a:ext cx="2377440" cy="594360"/>
          </a:xfrm>
          <a:prstGeom prst="roundRect">
            <a:avLst>
              <a:gd name="adj" fmla="val 15385"/>
            </a:avLst>
          </a:prstGeom>
          <a:solidFill>
            <a:schemeClr val="accent1"/>
          </a:solidFill>
          <a:ln/>
        </p:spPr>
      </p:sp>
      <p:sp>
        <p:nvSpPr>
          <p:cNvPr id="10" name="Response label"/>
          <p:cNvSpPr txBox="1"/>
          <p:nvPr/>
        </p:nvSpPr>
        <p:spPr>
          <a:xfrm>
            <a:off x="6309360" y="3108960"/>
            <a:ext cx="2377440" cy="594360"/>
          </a:xfrm>
          <a:prstGeom prst="rect">
            <a:avLst/>
          </a:prstGeom>
          <a:noFill/>
          <a:ln/>
        </p:spPr>
        <p:txBody>
          <a:bodyPr wrap="square" lIns="0" tIns="0" rIns="0" bIns="0" rtlCol="0" anchor="ctr"/>
          <a:lstStyle/>
          <a:p>
            <a:pPr algn="ctr" indent="0" marL="0">
              <a:buNone/>
            </a:pPr>
            <a:r>
              <a:rPr lang="en-US" sz="1600" b="1" dirty="0">
                <a:solidFill>
                  <a:schemeClr val="tx2"/>
                </a:solidFill>
              </a:rPr>
              <a:t>Response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Why instruction fine-tuning?</a:t>
            </a:r>
            <a:endParaRPr lang="en-US" sz="3600" dirty="0"/>
          </a:p>
        </p:txBody>
      </p:sp>
      <p:sp>
        <p:nvSpPr>
          <p:cNvPr id="3" name="Base card"/>
          <p:cNvSpPr/>
          <p:nvPr/>
        </p:nvSpPr>
        <p:spPr>
          <a:xfrm>
            <a:off x="548640" y="1280160"/>
            <a:ext cx="3840480" cy="1417320"/>
          </a:xfrm>
          <a:prstGeom prst="roundRect">
            <a:avLst>
              <a:gd name="adj" fmla="val 7742"/>
            </a:avLst>
          </a:prstGeom>
          <a:solidFill>
            <a:schemeClr val="bg2"/>
          </a:solidFill>
          <a:ln/>
        </p:spPr>
      </p:sp>
      <p:sp>
        <p:nvSpPr>
          <p:cNvPr id="4" name="Base label"/>
          <p:cNvSpPr txBox="1"/>
          <p:nvPr/>
        </p:nvSpPr>
        <p:spPr>
          <a:xfrm>
            <a:off x="777240" y="1417320"/>
            <a:ext cx="3383280" cy="256032"/>
          </a:xfrm>
          <a:prstGeom prst="rect">
            <a:avLst/>
          </a:prstGeom>
          <a:noFill/>
          <a:ln/>
        </p:spPr>
        <p:txBody>
          <a:bodyPr wrap="square" lIns="0" tIns="0" rIns="0" bIns="0" rtlCol="0" anchor="t"/>
          <a:lstStyle/>
          <a:p>
            <a:pPr indent="0" marL="0">
              <a:buNone/>
            </a:pPr>
            <a:r>
              <a:rPr lang="en-US" sz="1200" b="1" dirty="0">
                <a:solidFill>
                  <a:schemeClr val="accent5"/>
                </a:solidFill>
              </a:rPr>
              <a:t>BASE MODEL</a:t>
            </a:r>
            <a:endParaRPr lang="en-US" sz="1200" dirty="0"/>
          </a:p>
        </p:txBody>
      </p:sp>
      <p:sp>
        <p:nvSpPr>
          <p:cNvPr id="5" name="Base text"/>
          <p:cNvSpPr txBox="1"/>
          <p:nvPr/>
        </p:nvSpPr>
        <p:spPr>
          <a:xfrm>
            <a:off x="777240" y="1737360"/>
            <a:ext cx="3383280" cy="868680"/>
          </a:xfrm>
          <a:prstGeom prst="rect">
            <a:avLst/>
          </a:prstGeom>
          <a:noFill/>
          <a:ln/>
        </p:spPr>
        <p:txBody>
          <a:bodyPr wrap="square" lIns="0" tIns="0" rIns="0" bIns="0" rtlCol="0" anchor="t"/>
          <a:lstStyle/>
          <a:p>
            <a:pPr indent="0" marL="0">
              <a:buNone/>
            </a:pPr>
            <a:r>
              <a:rPr lang="en-US" sz="1600" dirty="0">
                <a:solidFill>
                  <a:schemeClr val="tx1"/>
                </a:solidFill>
              </a:rPr>
              <a:t>Trained to predict the next token. It is not trained on request and answer pairs.</a:t>
            </a:r>
            <a:endParaRPr lang="en-US" sz="1600" dirty="0"/>
          </a:p>
        </p:txBody>
      </p:sp>
      <p:sp>
        <p:nvSpPr>
          <p:cNvPr id="6" name="Tuned card"/>
          <p:cNvSpPr/>
          <p:nvPr/>
        </p:nvSpPr>
        <p:spPr>
          <a:xfrm>
            <a:off x="548640" y="2880360"/>
            <a:ext cx="3840480" cy="1417320"/>
          </a:xfrm>
          <a:prstGeom prst="roundRect">
            <a:avLst>
              <a:gd name="adj" fmla="val 7742"/>
            </a:avLst>
          </a:prstGeom>
          <a:solidFill>
            <a:schemeClr val="tx2"/>
          </a:solidFill>
          <a:ln/>
        </p:spPr>
      </p:sp>
      <p:sp>
        <p:nvSpPr>
          <p:cNvPr id="7" name="Tuned label"/>
          <p:cNvSpPr txBox="1"/>
          <p:nvPr/>
        </p:nvSpPr>
        <p:spPr>
          <a:xfrm>
            <a:off x="777240" y="3017520"/>
            <a:ext cx="3383280" cy="256032"/>
          </a:xfrm>
          <a:prstGeom prst="rect">
            <a:avLst/>
          </a:prstGeom>
          <a:noFill/>
          <a:ln/>
        </p:spPr>
        <p:txBody>
          <a:bodyPr wrap="square" lIns="0" tIns="0" rIns="0" bIns="0" rtlCol="0" anchor="t"/>
          <a:lstStyle/>
          <a:p>
            <a:pPr indent="0" marL="0">
              <a:buNone/>
            </a:pPr>
            <a:r>
              <a:rPr lang="en-US" sz="1200" b="1" dirty="0">
                <a:solidFill>
                  <a:schemeClr val="accent1"/>
                </a:solidFill>
              </a:rPr>
              <a:t>AFTER INSTRUCTION FINE-TUNING</a:t>
            </a:r>
            <a:endParaRPr lang="en-US" sz="1200" dirty="0"/>
          </a:p>
        </p:txBody>
      </p:sp>
      <p:sp>
        <p:nvSpPr>
          <p:cNvPr id="8" name="Tuned text"/>
          <p:cNvSpPr txBox="1"/>
          <p:nvPr/>
        </p:nvSpPr>
        <p:spPr>
          <a:xfrm>
            <a:off x="777240" y="3337560"/>
            <a:ext cx="3383280" cy="868680"/>
          </a:xfrm>
          <a:prstGeom prst="rect">
            <a:avLst/>
          </a:prstGeom>
          <a:noFill/>
          <a:ln/>
        </p:spPr>
        <p:txBody>
          <a:bodyPr wrap="square" lIns="0" tIns="0" rIns="0" bIns="0" rtlCol="0" anchor="t"/>
          <a:lstStyle/>
          <a:p>
            <a:pPr indent="0" marL="0">
              <a:buNone/>
            </a:pPr>
            <a:r>
              <a:rPr lang="en-US" sz="1600" dirty="0">
                <a:solidFill>
                  <a:schemeClr val="bg1"/>
                </a:solidFill>
              </a:rPr>
              <a:t>Trained on instruction and response pairs, so it learns the answer style the data shows.</a:t>
            </a:r>
            <a:endParaRPr lang="en-US" sz="1600" dirty="0"/>
          </a:p>
        </p:txBody>
      </p:sp>
      <p:sp>
        <p:nvSpPr>
          <p:cNvPr id="9" name="Record card"/>
          <p:cNvSpPr/>
          <p:nvPr/>
        </p:nvSpPr>
        <p:spPr>
          <a:xfrm>
            <a:off x="4663440" y="1280160"/>
            <a:ext cx="3931920" cy="3017520"/>
          </a:xfrm>
          <a:prstGeom prst="roundRect">
            <a:avLst>
              <a:gd name="adj" fmla="val 3636"/>
            </a:avLst>
          </a:prstGeom>
          <a:solidFill>
            <a:schemeClr val="bg2"/>
          </a:solidFill>
          <a:ln/>
        </p:spPr>
      </p:sp>
      <p:sp>
        <p:nvSpPr>
          <p:cNvPr id="10" name="Record label"/>
          <p:cNvSpPr txBox="1"/>
          <p:nvPr/>
        </p:nvSpPr>
        <p:spPr>
          <a:xfrm>
            <a:off x="4892040" y="1417320"/>
            <a:ext cx="3474720" cy="256032"/>
          </a:xfrm>
          <a:prstGeom prst="rect">
            <a:avLst/>
          </a:prstGeom>
          <a:noFill/>
          <a:ln/>
        </p:spPr>
        <p:txBody>
          <a:bodyPr wrap="square" lIns="0" tIns="0" rIns="0" bIns="0" rtlCol="0" anchor="t"/>
          <a:lstStyle/>
          <a:p>
            <a:pPr indent="0" marL="0">
              <a:buNone/>
            </a:pPr>
            <a:r>
              <a:rPr lang="en-US" sz="1200" b="1" dirty="0">
                <a:solidFill>
                  <a:schemeClr val="accent2"/>
                </a:solidFill>
              </a:rPr>
              <a:t>ONE RECORD FROM THE DATASET</a:t>
            </a:r>
            <a:endParaRPr lang="en-US" sz="1200" dirty="0"/>
          </a:p>
        </p:txBody>
      </p:sp>
      <p:sp>
        <p:nvSpPr>
          <p:cNvPr id="11" name="Record text"/>
          <p:cNvSpPr txBox="1"/>
          <p:nvPr/>
        </p:nvSpPr>
        <p:spPr>
          <a:xfrm>
            <a:off x="4892040" y="1737360"/>
            <a:ext cx="3474720" cy="2468880"/>
          </a:xfrm>
          <a:prstGeom prst="rect">
            <a:avLst/>
          </a:prstGeom>
          <a:noFill/>
          <a:ln/>
        </p:spPr>
        <p:txBody>
          <a:bodyPr wrap="square" lIns="0" tIns="0" rIns="0" bIns="0" rtlCol="0" anchor="t"/>
          <a:lstStyle/>
          <a:p>
            <a:pPr indent="0" marL="0">
              <a:buNone/>
            </a:pPr>
            <a:r>
              <a:rPr lang="en-US" sz="1400" b="1" dirty="0">
                <a:solidFill>
                  <a:schemeClr val="accent2"/>
                </a:solidFill>
              </a:rPr>
              <a:t>instruction</a:t>
            </a:r>
            <a:endParaRPr lang="en-US" sz="1400" dirty="0"/>
          </a:p>
          <a:p>
            <a:pPr indent="0" marL="0">
              <a:spcAft>
                <a:spcPts val="800"/>
              </a:spcAft>
              <a:buNone/>
            </a:pPr>
            <a:r>
              <a:rPr lang="en-US" sz="1400" dirty="0">
                <a:solidFill>
                  <a:schemeClr val="tx1"/>
                </a:solidFill>
              </a:rPr>
              <a:t>Give me a list of basic ingredients for baking cookies</a:t>
            </a:r>
            <a:endParaRPr lang="en-US" sz="1400" dirty="0"/>
          </a:p>
          <a:p>
            <a:pPr indent="0" marL="0">
              <a:buNone/>
            </a:pPr>
            <a:r>
              <a:rPr lang="en-US" sz="1400" b="1" dirty="0">
                <a:solidFill>
                  <a:schemeClr val="accent2"/>
                </a:solidFill>
              </a:rPr>
              <a:t>context</a:t>
            </a:r>
            <a:endParaRPr lang="en-US" sz="1400" dirty="0"/>
          </a:p>
          <a:p>
            <a:pPr indent="0" marL="0">
              <a:spcAft>
                <a:spcPts val="800"/>
              </a:spcAft>
              <a:buNone/>
            </a:pPr>
            <a:r>
              <a:rPr lang="en-US" sz="1400" i="1" dirty="0">
                <a:solidFill>
                  <a:schemeClr val="tx1"/>
                </a:solidFill>
              </a:rPr>
              <a:t>(empty)</a:t>
            </a:r>
            <a:endParaRPr lang="en-US" sz="1400" dirty="0"/>
          </a:p>
          <a:p>
            <a:pPr indent="0" marL="0">
              <a:buNone/>
            </a:pPr>
            <a:r>
              <a:rPr lang="en-US" sz="1400" b="1" dirty="0">
                <a:solidFill>
                  <a:schemeClr val="accent2"/>
                </a:solidFill>
              </a:rPr>
              <a:t>response</a:t>
            </a:r>
            <a:endParaRPr lang="en-US" sz="1400" dirty="0"/>
          </a:p>
          <a:p>
            <a:pPr indent="0" marL="0">
              <a:spcAft>
                <a:spcPts val="800"/>
              </a:spcAft>
              <a:buNone/>
            </a:pPr>
            <a:r>
              <a:rPr lang="en-US" sz="1400" dirty="0">
                <a:solidFill>
                  <a:schemeClr val="tx1"/>
                </a:solidFill>
              </a:rPr>
              <a:t>To bake cookies you will need flour, sugar, eggs, milk, butter, baking powder, and…</a:t>
            </a:r>
            <a:endParaRPr lang="en-US" sz="1400" dirty="0"/>
          </a:p>
          <a:p>
            <a:pPr indent="0" marL="0">
              <a:buNone/>
            </a:pPr>
            <a:r>
              <a:rPr lang="en-US" sz="1400" i="1" dirty="0">
                <a:solidFill>
                  <a:schemeClr val="accent5"/>
                </a:solidFill>
              </a:rPr>
              <a:t>category: brainstorming</a:t>
            </a:r>
            <a:endParaRPr lang="en-US" sz="1400" dirty="0"/>
          </a:p>
        </p:txBody>
      </p:sp>
      <p:sp>
        <p:nvSpPr>
          <p:cNvPr id="12" name="Caption"/>
          <p:cNvSpPr txBox="1"/>
          <p:nvPr/>
        </p:nvSpPr>
        <p:spPr>
          <a:xfrm>
            <a:off x="548640" y="4434840"/>
            <a:ext cx="8046720" cy="274320"/>
          </a:xfrm>
          <a:prstGeom prst="rect">
            <a:avLst/>
          </a:prstGeom>
          <a:noFill/>
          <a:ln/>
        </p:spPr>
        <p:txBody>
          <a:bodyPr wrap="square" lIns="0" tIns="0" rIns="0" bIns="0" rtlCol="0" anchor="t"/>
          <a:lstStyle/>
          <a:p>
            <a:pPr indent="0" marL="0">
              <a:buNone/>
            </a:pPr>
            <a:r>
              <a:rPr lang="en-US" sz="1400" dirty="0">
                <a:solidFill>
                  <a:schemeClr val="accent5"/>
                </a:solidFill>
              </a:rPr>
              <a:t>In training, only the response is scored (answer_only_loss_mask: true).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Dataset and split</a:t>
            </a:r>
            <a:endParaRPr lang="en-US" sz="3600" dirty="0"/>
          </a:p>
        </p:txBody>
      </p:sp>
      <p:sp>
        <p:nvSpPr>
          <p:cNvPr id="3" name="Train segment"/>
          <p:cNvSpPr/>
          <p:nvPr/>
        </p:nvSpPr>
        <p:spPr>
          <a:xfrm>
            <a:off x="548640" y="1280160"/>
            <a:ext cx="6437376" cy="685800"/>
          </a:xfrm>
          <a:prstGeom prst="roundRect">
            <a:avLst>
              <a:gd name="adj" fmla="val 13333"/>
            </a:avLst>
          </a:prstGeom>
          <a:solidFill>
            <a:schemeClr val="accent1"/>
          </a:solidFill>
          <a:ln/>
        </p:spPr>
      </p:sp>
      <p:sp>
        <p:nvSpPr>
          <p:cNvPr id="4" name="Train label"/>
          <p:cNvSpPr txBox="1"/>
          <p:nvPr/>
        </p:nvSpPr>
        <p:spPr>
          <a:xfrm>
            <a:off x="548640" y="1280160"/>
            <a:ext cx="6437376" cy="685800"/>
          </a:xfrm>
          <a:prstGeom prst="rect">
            <a:avLst/>
          </a:prstGeom>
          <a:noFill/>
          <a:ln/>
        </p:spPr>
        <p:txBody>
          <a:bodyPr wrap="square" lIns="0" tIns="0" rIns="0" bIns="0" rtlCol="0" anchor="ctr"/>
          <a:lstStyle/>
          <a:p>
            <a:pPr algn="ctr" indent="0" marL="0">
              <a:buNone/>
            </a:pPr>
            <a:r>
              <a:rPr lang="en-US" sz="1800" b="1" dirty="0">
                <a:solidFill>
                  <a:schemeClr val="tx2"/>
                </a:solidFill>
              </a:rPr>
              <a:t>Train: 800 (80%)</a:t>
            </a:r>
            <a:endParaRPr lang="en-US" sz="1800" dirty="0"/>
          </a:p>
        </p:txBody>
      </p:sp>
      <p:sp>
        <p:nvSpPr>
          <p:cNvPr id="5" name="Val segment"/>
          <p:cNvSpPr/>
          <p:nvPr/>
        </p:nvSpPr>
        <p:spPr>
          <a:xfrm>
            <a:off x="7040880" y="1280160"/>
            <a:ext cx="768096" cy="685800"/>
          </a:xfrm>
          <a:prstGeom prst="roundRect">
            <a:avLst>
              <a:gd name="adj" fmla="val 13333"/>
            </a:avLst>
          </a:prstGeom>
          <a:solidFill>
            <a:schemeClr val="accent6"/>
          </a:solidFill>
          <a:ln/>
        </p:spPr>
      </p:sp>
      <p:sp>
        <p:nvSpPr>
          <p:cNvPr id="6" name="Val count"/>
          <p:cNvSpPr txBox="1"/>
          <p:nvPr/>
        </p:nvSpPr>
        <p:spPr>
          <a:xfrm>
            <a:off x="7040880" y="1280160"/>
            <a:ext cx="768096" cy="685800"/>
          </a:xfrm>
          <a:prstGeom prst="rect">
            <a:avLst/>
          </a:prstGeom>
          <a:noFill/>
          <a:ln/>
        </p:spPr>
        <p:txBody>
          <a:bodyPr wrap="square" lIns="0" tIns="0" rIns="0" bIns="0" rtlCol="0" anchor="ctr"/>
          <a:lstStyle/>
          <a:p>
            <a:pPr algn="ctr" indent="0" marL="0">
              <a:buNone/>
            </a:pPr>
            <a:r>
              <a:rPr lang="en-US" sz="1600" b="1" dirty="0">
                <a:solidFill>
                  <a:schemeClr val="tx2"/>
                </a:solidFill>
              </a:rPr>
              <a:t>100</a:t>
            </a:r>
            <a:endParaRPr lang="en-US" sz="1600" dirty="0"/>
          </a:p>
        </p:txBody>
      </p:sp>
      <p:sp>
        <p:nvSpPr>
          <p:cNvPr id="7" name="Test segment"/>
          <p:cNvSpPr/>
          <p:nvPr/>
        </p:nvSpPr>
        <p:spPr>
          <a:xfrm>
            <a:off x="7863840" y="1280160"/>
            <a:ext cx="731520" cy="685800"/>
          </a:xfrm>
          <a:prstGeom prst="roundRect">
            <a:avLst>
              <a:gd name="adj" fmla="val 13333"/>
            </a:avLst>
          </a:prstGeom>
          <a:solidFill>
            <a:schemeClr val="bg2"/>
          </a:solidFill>
          <a:ln w="19050">
            <a:solidFill>
              <a:schemeClr val="accent1"/>
            </a:solidFill>
            <a:prstDash val="solid"/>
          </a:ln>
        </p:spPr>
      </p:sp>
      <p:sp>
        <p:nvSpPr>
          <p:cNvPr id="8" name="Test count"/>
          <p:cNvSpPr txBox="1"/>
          <p:nvPr/>
        </p:nvSpPr>
        <p:spPr>
          <a:xfrm>
            <a:off x="7863840" y="1280160"/>
            <a:ext cx="731520" cy="685800"/>
          </a:xfrm>
          <a:prstGeom prst="rect">
            <a:avLst/>
          </a:prstGeom>
          <a:noFill/>
          <a:ln/>
        </p:spPr>
        <p:txBody>
          <a:bodyPr wrap="square" lIns="0" tIns="0" rIns="0" bIns="0" rtlCol="0" anchor="ctr"/>
          <a:lstStyle/>
          <a:p>
            <a:pPr algn="ctr" indent="0" marL="0">
              <a:buNone/>
            </a:pPr>
            <a:r>
              <a:rPr lang="en-US" sz="1600" b="1" dirty="0">
                <a:solidFill>
                  <a:schemeClr val="tx1"/>
                </a:solidFill>
              </a:rPr>
              <a:t>100</a:t>
            </a:r>
            <a:endParaRPr lang="en-US" sz="1600" dirty="0"/>
          </a:p>
        </p:txBody>
      </p:sp>
      <p:sp>
        <p:nvSpPr>
          <p:cNvPr id="9" name="Val name"/>
          <p:cNvSpPr txBox="1"/>
          <p:nvPr/>
        </p:nvSpPr>
        <p:spPr>
          <a:xfrm>
            <a:off x="7040880" y="2011680"/>
            <a:ext cx="768096" cy="256032"/>
          </a:xfrm>
          <a:prstGeom prst="rect">
            <a:avLst/>
          </a:prstGeom>
          <a:noFill/>
          <a:ln/>
        </p:spPr>
        <p:txBody>
          <a:bodyPr wrap="square" lIns="0" tIns="0" rIns="0" bIns="0" rtlCol="0" anchor="t"/>
          <a:lstStyle/>
          <a:p>
            <a:pPr algn="ctr" indent="0" marL="0">
              <a:buNone/>
            </a:pPr>
            <a:r>
              <a:rPr lang="en-US" sz="1200" dirty="0">
                <a:solidFill>
                  <a:schemeClr val="accent5"/>
                </a:solidFill>
              </a:rPr>
              <a:t>Val</a:t>
            </a:r>
            <a:endParaRPr lang="en-US" sz="1200" dirty="0"/>
          </a:p>
        </p:txBody>
      </p:sp>
      <p:sp>
        <p:nvSpPr>
          <p:cNvPr id="10" name="Test name"/>
          <p:cNvSpPr txBox="1"/>
          <p:nvPr/>
        </p:nvSpPr>
        <p:spPr>
          <a:xfrm>
            <a:off x="7863840" y="2011680"/>
            <a:ext cx="731520" cy="256032"/>
          </a:xfrm>
          <a:prstGeom prst="rect">
            <a:avLst/>
          </a:prstGeom>
          <a:noFill/>
          <a:ln/>
        </p:spPr>
        <p:txBody>
          <a:bodyPr wrap="square" lIns="0" tIns="0" rIns="0" bIns="0" rtlCol="0" anchor="t"/>
          <a:lstStyle/>
          <a:p>
            <a:pPr algn="ctr" indent="0" marL="0">
              <a:buNone/>
            </a:pPr>
            <a:r>
              <a:rPr lang="en-US" sz="1200" dirty="0">
                <a:solidFill>
                  <a:schemeClr val="accent5"/>
                </a:solidFill>
              </a:rPr>
              <a:t>Test</a:t>
            </a:r>
            <a:endParaRPr lang="en-US" sz="1200" dirty="0"/>
          </a:p>
        </p:txBody>
      </p:sp>
      <p:sp>
        <p:nvSpPr>
          <p:cNvPr id="11" name="Step card 1"/>
          <p:cNvSpPr/>
          <p:nvPr/>
        </p:nvSpPr>
        <p:spPr>
          <a:xfrm>
            <a:off x="548640" y="2468880"/>
            <a:ext cx="2560320" cy="1371600"/>
          </a:xfrm>
          <a:prstGeom prst="roundRect">
            <a:avLst>
              <a:gd name="adj" fmla="val 8000"/>
            </a:avLst>
          </a:prstGeom>
          <a:solidFill>
            <a:schemeClr val="bg2"/>
          </a:solidFill>
          <a:ln/>
        </p:spPr>
      </p:sp>
      <p:sp>
        <p:nvSpPr>
          <p:cNvPr id="12" name="Step label 1"/>
          <p:cNvSpPr txBox="1"/>
          <p:nvPr/>
        </p:nvSpPr>
        <p:spPr>
          <a:xfrm>
            <a:off x="777240" y="2606040"/>
            <a:ext cx="2103120" cy="256032"/>
          </a:xfrm>
          <a:prstGeom prst="rect">
            <a:avLst/>
          </a:prstGeom>
          <a:noFill/>
          <a:ln/>
        </p:spPr>
        <p:txBody>
          <a:bodyPr wrap="square" lIns="0" tIns="0" rIns="0" bIns="0" rtlCol="0" anchor="t"/>
          <a:lstStyle/>
          <a:p>
            <a:pPr indent="0" marL="0">
              <a:buNone/>
            </a:pPr>
            <a:r>
              <a:rPr lang="en-US" sz="1200" b="1" dirty="0">
                <a:solidFill>
                  <a:schemeClr val="accent2"/>
                </a:solidFill>
              </a:rPr>
              <a:t>1  LOAD</a:t>
            </a:r>
            <a:endParaRPr lang="en-US" sz="1200" dirty="0"/>
          </a:p>
        </p:txBody>
      </p:sp>
      <p:sp>
        <p:nvSpPr>
          <p:cNvPr id="13" name="Step text 1"/>
          <p:cNvSpPr txBox="1"/>
          <p:nvPr/>
        </p:nvSpPr>
        <p:spPr>
          <a:xfrm>
            <a:off x="777240" y="2926080"/>
            <a:ext cx="2148840" cy="868680"/>
          </a:xfrm>
          <a:prstGeom prst="rect">
            <a:avLst/>
          </a:prstGeom>
          <a:noFill/>
          <a:ln/>
        </p:spPr>
        <p:txBody>
          <a:bodyPr wrap="square" lIns="0" tIns="0" rIns="0" bIns="0" rtlCol="0" anchor="t"/>
          <a:lstStyle/>
          <a:p>
            <a:pPr indent="0" marL="0">
              <a:buNone/>
            </a:pPr>
            <a:r>
              <a:rPr lang="en-US" sz="1400" dirty="0">
                <a:solidFill>
                  <a:schemeClr val="tx1"/>
                </a:solidFill>
              </a:rPr>
              <a:t>databricks/databricks-dolly-15k, train split with 15,011 examples.</a:t>
            </a:r>
            <a:endParaRPr lang="en-US" sz="1400" dirty="0"/>
          </a:p>
        </p:txBody>
      </p:sp>
      <p:sp>
        <p:nvSpPr>
          <p:cNvPr id="14" name="Step card 2"/>
          <p:cNvSpPr/>
          <p:nvPr/>
        </p:nvSpPr>
        <p:spPr>
          <a:xfrm>
            <a:off x="3291840" y="2468880"/>
            <a:ext cx="2560320" cy="1371600"/>
          </a:xfrm>
          <a:prstGeom prst="roundRect">
            <a:avLst>
              <a:gd name="adj" fmla="val 8000"/>
            </a:avLst>
          </a:prstGeom>
          <a:solidFill>
            <a:schemeClr val="bg2"/>
          </a:solidFill>
          <a:ln/>
        </p:spPr>
      </p:sp>
      <p:sp>
        <p:nvSpPr>
          <p:cNvPr id="15" name="Step label 2"/>
          <p:cNvSpPr txBox="1"/>
          <p:nvPr/>
        </p:nvSpPr>
        <p:spPr>
          <a:xfrm>
            <a:off x="3520440" y="2606040"/>
            <a:ext cx="2103120" cy="256032"/>
          </a:xfrm>
          <a:prstGeom prst="rect">
            <a:avLst/>
          </a:prstGeom>
          <a:noFill/>
          <a:ln/>
        </p:spPr>
        <p:txBody>
          <a:bodyPr wrap="square" lIns="0" tIns="0" rIns="0" bIns="0" rtlCol="0" anchor="t"/>
          <a:lstStyle/>
          <a:p>
            <a:pPr indent="0" marL="0">
              <a:buNone/>
            </a:pPr>
            <a:r>
              <a:rPr lang="en-US" sz="1200" b="1" dirty="0">
                <a:solidFill>
                  <a:schemeClr val="accent2"/>
                </a:solidFill>
              </a:rPr>
              <a:t>2  SAMPLE</a:t>
            </a:r>
            <a:endParaRPr lang="en-US" sz="1200" dirty="0"/>
          </a:p>
        </p:txBody>
      </p:sp>
      <p:sp>
        <p:nvSpPr>
          <p:cNvPr id="16" name="Step text 2"/>
          <p:cNvSpPr txBox="1"/>
          <p:nvPr/>
        </p:nvSpPr>
        <p:spPr>
          <a:xfrm>
            <a:off x="3520440" y="2926080"/>
            <a:ext cx="2148840" cy="868680"/>
          </a:xfrm>
          <a:prstGeom prst="rect">
            <a:avLst/>
          </a:prstGeom>
          <a:noFill/>
          <a:ln/>
        </p:spPr>
        <p:txBody>
          <a:bodyPr wrap="square" lIns="0" tIns="0" rIns="0" bIns="0" rtlCol="0" anchor="t"/>
          <a:lstStyle/>
          <a:p>
            <a:pPr indent="0" marL="0">
              <a:buNone/>
            </a:pPr>
            <a:r>
              <a:rPr lang="en-US" sz="1400" dirty="0">
                <a:solidFill>
                  <a:schemeClr val="tx1"/>
                </a:solidFill>
              </a:rPr>
              <a:t>Shuffled with seed 42, then the first 1,000 kept.</a:t>
            </a:r>
            <a:endParaRPr lang="en-US" sz="1400" dirty="0"/>
          </a:p>
        </p:txBody>
      </p:sp>
      <p:sp>
        <p:nvSpPr>
          <p:cNvPr id="17" name="Step card 3"/>
          <p:cNvSpPr/>
          <p:nvPr/>
        </p:nvSpPr>
        <p:spPr>
          <a:xfrm>
            <a:off x="6035040" y="2468880"/>
            <a:ext cx="2560320" cy="1371600"/>
          </a:xfrm>
          <a:prstGeom prst="roundRect">
            <a:avLst>
              <a:gd name="adj" fmla="val 8000"/>
            </a:avLst>
          </a:prstGeom>
          <a:solidFill>
            <a:schemeClr val="bg2"/>
          </a:solidFill>
          <a:ln/>
        </p:spPr>
      </p:sp>
      <p:sp>
        <p:nvSpPr>
          <p:cNvPr id="18" name="Step label 3"/>
          <p:cNvSpPr txBox="1"/>
          <p:nvPr/>
        </p:nvSpPr>
        <p:spPr>
          <a:xfrm>
            <a:off x="6263640" y="2606040"/>
            <a:ext cx="2103120" cy="256032"/>
          </a:xfrm>
          <a:prstGeom prst="rect">
            <a:avLst/>
          </a:prstGeom>
          <a:noFill/>
          <a:ln/>
        </p:spPr>
        <p:txBody>
          <a:bodyPr wrap="square" lIns="0" tIns="0" rIns="0" bIns="0" rtlCol="0" anchor="t"/>
          <a:lstStyle/>
          <a:p>
            <a:pPr indent="0" marL="0">
              <a:buNone/>
            </a:pPr>
            <a:r>
              <a:rPr lang="en-US" sz="1200" b="1" dirty="0">
                <a:solidFill>
                  <a:schemeClr val="accent2"/>
                </a:solidFill>
              </a:rPr>
              <a:t>3  SPLIT</a:t>
            </a:r>
            <a:endParaRPr lang="en-US" sz="1200" dirty="0"/>
          </a:p>
        </p:txBody>
      </p:sp>
      <p:sp>
        <p:nvSpPr>
          <p:cNvPr id="19" name="Step text 3"/>
          <p:cNvSpPr txBox="1"/>
          <p:nvPr/>
        </p:nvSpPr>
        <p:spPr>
          <a:xfrm>
            <a:off x="6263640" y="2926080"/>
            <a:ext cx="2148840" cy="868680"/>
          </a:xfrm>
          <a:prstGeom prst="rect">
            <a:avLst/>
          </a:prstGeom>
          <a:noFill/>
          <a:ln/>
        </p:spPr>
        <p:txBody>
          <a:bodyPr wrap="square" lIns="0" tIns="0" rIns="0" bIns="0" rtlCol="0" anchor="t"/>
          <a:lstStyle/>
          <a:p>
            <a:pPr indent="0" marL="0">
              <a:buNone/>
            </a:pPr>
            <a:r>
              <a:rPr lang="en-US" sz="1400" dirty="0">
                <a:solidFill>
                  <a:schemeClr val="tx1"/>
                </a:solidFill>
              </a:rPr>
              <a:t>80/10/10 with seed 42. Saved as train, validation and test .jsonl files.</a:t>
            </a:r>
            <a:endParaRPr lang="en-US" sz="1400" dirty="0"/>
          </a:p>
        </p:txBody>
      </p:sp>
      <p:sp>
        <p:nvSpPr>
          <p:cNvPr id="20" name="Mapping band"/>
          <p:cNvSpPr/>
          <p:nvPr/>
        </p:nvSpPr>
        <p:spPr>
          <a:xfrm>
            <a:off x="548640" y="4023360"/>
            <a:ext cx="8046720" cy="502920"/>
          </a:xfrm>
          <a:prstGeom prst="roundRect">
            <a:avLst>
              <a:gd name="adj" fmla="val 21818"/>
            </a:avLst>
          </a:prstGeom>
          <a:solidFill>
            <a:schemeClr val="tx2"/>
          </a:solidFill>
          <a:ln/>
        </p:spPr>
      </p:sp>
      <p:sp>
        <p:nvSpPr>
          <p:cNvPr id="21" name="Mapping text"/>
          <p:cNvSpPr txBox="1"/>
          <p:nvPr/>
        </p:nvSpPr>
        <p:spPr>
          <a:xfrm>
            <a:off x="777240" y="4023360"/>
            <a:ext cx="7589520" cy="502920"/>
          </a:xfrm>
          <a:prstGeom prst="rect">
            <a:avLst/>
          </a:prstGeom>
          <a:noFill/>
          <a:ln/>
        </p:spPr>
        <p:txBody>
          <a:bodyPr wrap="square" lIns="0" tIns="0" rIns="0" bIns="0" rtlCol="0" anchor="ctr"/>
          <a:lstStyle/>
          <a:p>
            <a:pPr indent="0" marL="0">
              <a:buNone/>
            </a:pPr>
            <a:r>
              <a:rPr lang="en-US" sz="1400" b="1" dirty="0">
                <a:solidFill>
                  <a:schemeClr val="bg1"/>
                </a:solidFill>
              </a:rPr>
              <a:t>YAML mapping:  context → context   ·   instruction → question   ·   response → answer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Base model: Qwen3-1.7B-Base</a:t>
            </a:r>
            <a:endParaRPr lang="en-US" sz="3600" dirty="0"/>
          </a:p>
        </p:txBody>
      </p:sp>
      <p:sp>
        <p:nvSpPr>
          <p:cNvPr id="3" name="Stat card 1"/>
          <p:cNvSpPr/>
          <p:nvPr/>
        </p:nvSpPr>
        <p:spPr>
          <a:xfrm>
            <a:off x="548640" y="1280160"/>
            <a:ext cx="2560320" cy="1737360"/>
          </a:xfrm>
          <a:prstGeom prst="roundRect">
            <a:avLst>
              <a:gd name="adj" fmla="val 6316"/>
            </a:avLst>
          </a:prstGeom>
          <a:solidFill>
            <a:schemeClr val="bg2"/>
          </a:solidFill>
          <a:ln/>
        </p:spPr>
      </p:sp>
      <p:sp>
        <p:nvSpPr>
          <p:cNvPr id="4" name="Stat value 1"/>
          <p:cNvSpPr txBox="1"/>
          <p:nvPr/>
        </p:nvSpPr>
        <p:spPr>
          <a:xfrm>
            <a:off x="777240" y="1463040"/>
            <a:ext cx="210312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1.74B</a:t>
            </a:r>
            <a:endParaRPr lang="en-US" sz="3600" dirty="0"/>
          </a:p>
        </p:txBody>
      </p:sp>
      <p:sp>
        <p:nvSpPr>
          <p:cNvPr id="5" name="Stat text 1"/>
          <p:cNvSpPr txBox="1"/>
          <p:nvPr/>
        </p:nvSpPr>
        <p:spPr>
          <a:xfrm>
            <a:off x="777240" y="2240280"/>
            <a:ext cx="2148840" cy="685800"/>
          </a:xfrm>
          <a:prstGeom prst="rect">
            <a:avLst/>
          </a:prstGeom>
          <a:noFill/>
          <a:ln/>
        </p:spPr>
        <p:txBody>
          <a:bodyPr wrap="square" lIns="0" tIns="0" rIns="0" bIns="0" rtlCol="0" anchor="t"/>
          <a:lstStyle/>
          <a:p>
            <a:pPr indent="0" marL="0">
              <a:buNone/>
            </a:pPr>
            <a:r>
              <a:rPr lang="en-US" sz="1400" dirty="0">
                <a:solidFill>
                  <a:schemeClr val="tx1"/>
                </a:solidFill>
              </a:rPr>
              <a:t>total parameters (1,738,007,552)</a:t>
            </a:r>
            <a:endParaRPr lang="en-US" sz="1400" dirty="0"/>
          </a:p>
        </p:txBody>
      </p:sp>
      <p:sp>
        <p:nvSpPr>
          <p:cNvPr id="6" name="Stat card 2"/>
          <p:cNvSpPr/>
          <p:nvPr/>
        </p:nvSpPr>
        <p:spPr>
          <a:xfrm>
            <a:off x="3291840" y="1280160"/>
            <a:ext cx="2560320" cy="1737360"/>
          </a:xfrm>
          <a:prstGeom prst="roundRect">
            <a:avLst>
              <a:gd name="adj" fmla="val 6316"/>
            </a:avLst>
          </a:prstGeom>
          <a:solidFill>
            <a:schemeClr val="bg2"/>
          </a:solidFill>
          <a:ln/>
        </p:spPr>
      </p:sp>
      <p:sp>
        <p:nvSpPr>
          <p:cNvPr id="7" name="Stat value 2"/>
          <p:cNvSpPr txBox="1"/>
          <p:nvPr/>
        </p:nvSpPr>
        <p:spPr>
          <a:xfrm>
            <a:off x="3520440" y="1463040"/>
            <a:ext cx="210312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≈3.4 GB</a:t>
            </a:r>
            <a:endParaRPr lang="en-US" sz="3600" dirty="0"/>
          </a:p>
        </p:txBody>
      </p:sp>
      <p:sp>
        <p:nvSpPr>
          <p:cNvPr id="8" name="Stat text 2"/>
          <p:cNvSpPr txBox="1"/>
          <p:nvPr/>
        </p:nvSpPr>
        <p:spPr>
          <a:xfrm>
            <a:off x="3520440" y="2240280"/>
            <a:ext cx="2148840" cy="685800"/>
          </a:xfrm>
          <a:prstGeom prst="rect">
            <a:avLst/>
          </a:prstGeom>
          <a:noFill/>
          <a:ln/>
        </p:spPr>
        <p:txBody>
          <a:bodyPr wrap="square" lIns="0" tIns="0" rIns="0" bIns="0" rtlCol="0" anchor="t"/>
          <a:lstStyle/>
          <a:p>
            <a:pPr indent="0" marL="0">
              <a:buNone/>
            </a:pPr>
            <a:r>
              <a:rPr lang="en-US" sz="1400" dirty="0">
                <a:solidFill>
                  <a:schemeClr val="tx1"/>
                </a:solidFill>
              </a:rPr>
              <a:t>weights in FP16, about 6.8 GB in FP32</a:t>
            </a:r>
            <a:endParaRPr lang="en-US" sz="1400" dirty="0"/>
          </a:p>
        </p:txBody>
      </p:sp>
      <p:sp>
        <p:nvSpPr>
          <p:cNvPr id="9" name="Stat card 3"/>
          <p:cNvSpPr/>
          <p:nvPr/>
        </p:nvSpPr>
        <p:spPr>
          <a:xfrm>
            <a:off x="6035040" y="1280160"/>
            <a:ext cx="2560320" cy="1737360"/>
          </a:xfrm>
          <a:prstGeom prst="roundRect">
            <a:avLst>
              <a:gd name="adj" fmla="val 6316"/>
            </a:avLst>
          </a:prstGeom>
          <a:solidFill>
            <a:schemeClr val="bg2"/>
          </a:solidFill>
          <a:ln/>
        </p:spPr>
      </p:sp>
      <p:sp>
        <p:nvSpPr>
          <p:cNvPr id="10" name="Stat value 3"/>
          <p:cNvSpPr txBox="1"/>
          <p:nvPr/>
        </p:nvSpPr>
        <p:spPr>
          <a:xfrm>
            <a:off x="6263640" y="1463040"/>
            <a:ext cx="210312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6.48 GiB</a:t>
            </a:r>
            <a:endParaRPr lang="en-US" sz="3600" dirty="0"/>
          </a:p>
        </p:txBody>
      </p:sp>
      <p:sp>
        <p:nvSpPr>
          <p:cNvPr id="11" name="Stat text 3"/>
          <p:cNvSpPr txBox="1"/>
          <p:nvPr/>
        </p:nvSpPr>
        <p:spPr>
          <a:xfrm>
            <a:off x="6263640" y="2240280"/>
            <a:ext cx="2148840" cy="685800"/>
          </a:xfrm>
          <a:prstGeom prst="rect">
            <a:avLst/>
          </a:prstGeom>
          <a:noFill/>
          <a:ln/>
        </p:spPr>
        <p:txBody>
          <a:bodyPr wrap="square" lIns="0" tIns="0" rIns="0" bIns="0" rtlCol="0" anchor="t"/>
          <a:lstStyle/>
          <a:p>
            <a:pPr indent="0" marL="0">
              <a:buNone/>
            </a:pPr>
            <a:r>
              <a:rPr lang="en-US" sz="1400" dirty="0">
                <a:solidFill>
                  <a:schemeClr val="tx1"/>
                </a:solidFill>
              </a:rPr>
              <a:t>highest memory value logged during training</a:t>
            </a:r>
            <a:endParaRPr lang="en-US" sz="1400" dirty="0"/>
          </a:p>
        </p:txBody>
      </p:sp>
      <p:sp>
        <p:nvSpPr>
          <p:cNvPr id="12" name="Facts card"/>
          <p:cNvSpPr/>
          <p:nvPr/>
        </p:nvSpPr>
        <p:spPr>
          <a:xfrm>
            <a:off x="548640" y="3200400"/>
            <a:ext cx="3931920" cy="1280160"/>
          </a:xfrm>
          <a:prstGeom prst="roundRect">
            <a:avLst>
              <a:gd name="adj" fmla="val 8571"/>
            </a:avLst>
          </a:prstGeom>
          <a:solidFill>
            <a:schemeClr val="bg2"/>
          </a:solidFill>
          <a:ln/>
        </p:spPr>
      </p:sp>
      <p:sp>
        <p:nvSpPr>
          <p:cNvPr id="13" name="Facts text"/>
          <p:cNvSpPr txBox="1"/>
          <p:nvPr/>
        </p:nvSpPr>
        <p:spPr>
          <a:xfrm>
            <a:off x="777240" y="3337560"/>
            <a:ext cx="3520440" cy="1051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A base model, not instruction-tuned</a:t>
            </a:r>
            <a:endParaRPr lang="en-US" sz="1500" dirty="0"/>
          </a:p>
          <a:p>
            <a:pPr marL="342900" indent="-342900">
              <a:spcAft>
                <a:spcPts val="400"/>
              </a:spcAft>
              <a:buSzPct val="100000"/>
              <a:buChar char="•"/>
            </a:pPr>
            <a:r>
              <a:rPr lang="en-US" sz="1500" dirty="0">
                <a:solidFill>
                  <a:schemeClr val="tx1"/>
                </a:solidFill>
              </a:rPr>
              <a:t>Loaded in float16</a:t>
            </a:r>
            <a:endParaRPr lang="en-US" sz="1500" dirty="0"/>
          </a:p>
          <a:p>
            <a:pPr marL="342900" indent="-342900">
              <a:spcAft>
                <a:spcPts val="400"/>
              </a:spcAft>
              <a:buSzPct val="100000"/>
              <a:buChar char="•"/>
            </a:pPr>
            <a:r>
              <a:rPr lang="en-US" sz="1500" dirty="0">
                <a:solidFill>
                  <a:schemeClr val="tx1"/>
                </a:solidFill>
              </a:rPr>
              <a:t>Single T4 GPU (per the YAML comment)</a:t>
            </a:r>
            <a:endParaRPr lang="en-US" sz="1500" dirty="0"/>
          </a:p>
        </p:txBody>
      </p:sp>
      <p:sp>
        <p:nvSpPr>
          <p:cNvPr id="14" name="Memory card"/>
          <p:cNvSpPr/>
          <p:nvPr/>
        </p:nvSpPr>
        <p:spPr>
          <a:xfrm>
            <a:off x="4663440" y="3200400"/>
            <a:ext cx="3931920" cy="1280160"/>
          </a:xfrm>
          <a:prstGeom prst="roundRect">
            <a:avLst>
              <a:gd name="adj" fmla="val 8571"/>
            </a:avLst>
          </a:prstGeom>
          <a:solidFill>
            <a:schemeClr val="tx2"/>
          </a:solidFill>
          <a:ln/>
        </p:spPr>
      </p:sp>
      <p:sp>
        <p:nvSpPr>
          <p:cNvPr id="15" name="Memory text"/>
          <p:cNvSpPr txBox="1"/>
          <p:nvPr/>
        </p:nvSpPr>
        <p:spPr>
          <a:xfrm>
            <a:off x="4892040" y="3337560"/>
            <a:ext cx="3474720" cy="1051560"/>
          </a:xfrm>
          <a:prstGeom prst="rect">
            <a:avLst/>
          </a:prstGeom>
          <a:noFill/>
          <a:ln/>
        </p:spPr>
        <p:txBody>
          <a:bodyPr wrap="square" lIns="0" tIns="0" rIns="0" bIns="0" rtlCol="0" anchor="ctr"/>
          <a:lstStyle/>
          <a:p>
            <a:pPr indent="0" marL="0">
              <a:buNone/>
            </a:pPr>
            <a:r>
              <a:rPr lang="en-US" sz="1500" dirty="0">
                <a:solidFill>
                  <a:schemeClr val="bg1"/>
                </a:solidFill>
              </a:rPr>
              <a:t>Training needs more memory than the weights alone: activations, gradients, optimizer states and buffers.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LoRA: train a small adapter</a:t>
            </a:r>
            <a:endParaRPr lang="en-US" sz="3600" dirty="0"/>
          </a:p>
        </p:txBody>
      </p:sp>
      <p:sp>
        <p:nvSpPr>
          <p:cNvPr id="3" name="Diagram box 1"/>
          <p:cNvSpPr/>
          <p:nvPr/>
        </p:nvSpPr>
        <p:spPr>
          <a:xfrm>
            <a:off x="548640" y="1280160"/>
            <a:ext cx="2377440" cy="1051560"/>
          </a:xfrm>
          <a:prstGeom prst="roundRect">
            <a:avLst>
              <a:gd name="adj" fmla="val 10435"/>
            </a:avLst>
          </a:prstGeom>
          <a:solidFill>
            <a:schemeClr val="bg2"/>
          </a:solidFill>
          <a:ln/>
        </p:spPr>
      </p:sp>
      <p:sp>
        <p:nvSpPr>
          <p:cNvPr id="4" name="Diagram title 1"/>
          <p:cNvSpPr txBox="1"/>
          <p:nvPr/>
        </p:nvSpPr>
        <p:spPr>
          <a:xfrm>
            <a:off x="548640" y="141732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Base weights</a:t>
            </a:r>
            <a:endParaRPr lang="en-US" sz="1800" dirty="0"/>
          </a:p>
        </p:txBody>
      </p:sp>
      <p:sp>
        <p:nvSpPr>
          <p:cNvPr id="5" name="Diagram sub 1"/>
          <p:cNvSpPr txBox="1"/>
          <p:nvPr/>
        </p:nvSpPr>
        <p:spPr>
          <a:xfrm>
            <a:off x="548640" y="1828800"/>
            <a:ext cx="2377440" cy="320040"/>
          </a:xfrm>
          <a:prstGeom prst="rect">
            <a:avLst/>
          </a:prstGeom>
          <a:noFill/>
          <a:ln/>
        </p:spPr>
        <p:txBody>
          <a:bodyPr wrap="square" lIns="0" tIns="0" rIns="0" bIns="0" rtlCol="0" anchor="t"/>
          <a:lstStyle/>
          <a:p>
            <a:pPr algn="ctr" indent="0" marL="0">
              <a:buNone/>
            </a:pPr>
            <a:r>
              <a:rPr lang="en-US" sz="1400" dirty="0">
                <a:solidFill>
                  <a:schemeClr val="tx1"/>
                </a:solidFill>
              </a:rPr>
              <a:t>frozen</a:t>
            </a:r>
            <a:endParaRPr lang="en-US" sz="1400" dirty="0"/>
          </a:p>
        </p:txBody>
      </p:sp>
      <p:sp>
        <p:nvSpPr>
          <p:cNvPr id="6" name="Diagram box 2"/>
          <p:cNvSpPr/>
          <p:nvPr/>
        </p:nvSpPr>
        <p:spPr>
          <a:xfrm>
            <a:off x="3383280" y="1280160"/>
            <a:ext cx="2377440" cy="1051560"/>
          </a:xfrm>
          <a:prstGeom prst="roundRect">
            <a:avLst>
              <a:gd name="adj" fmla="val 10435"/>
            </a:avLst>
          </a:prstGeom>
          <a:solidFill>
            <a:schemeClr val="accent1"/>
          </a:solidFill>
          <a:ln/>
        </p:spPr>
      </p:sp>
      <p:sp>
        <p:nvSpPr>
          <p:cNvPr id="7" name="Diagram title 2"/>
          <p:cNvSpPr txBox="1"/>
          <p:nvPr/>
        </p:nvSpPr>
        <p:spPr>
          <a:xfrm>
            <a:off x="3383280" y="1417320"/>
            <a:ext cx="2377440" cy="411480"/>
          </a:xfrm>
          <a:prstGeom prst="rect">
            <a:avLst/>
          </a:prstGeom>
          <a:noFill/>
          <a:ln/>
        </p:spPr>
        <p:txBody>
          <a:bodyPr wrap="square" lIns="0" tIns="0" rIns="0" bIns="0" rtlCol="0" anchor="t"/>
          <a:lstStyle/>
          <a:p>
            <a:pPr algn="ctr" indent="0" marL="0">
              <a:buNone/>
            </a:pPr>
            <a:r>
              <a:rPr lang="en-US" sz="1800" b="1" dirty="0">
                <a:solidFill>
                  <a:schemeClr val="tx2"/>
                </a:solidFill>
              </a:rPr>
              <a:t>LoRA adapter</a:t>
            </a:r>
            <a:endParaRPr lang="en-US" sz="1800" dirty="0"/>
          </a:p>
        </p:txBody>
      </p:sp>
      <p:sp>
        <p:nvSpPr>
          <p:cNvPr id="8" name="Diagram sub 2"/>
          <p:cNvSpPr txBox="1"/>
          <p:nvPr/>
        </p:nvSpPr>
        <p:spPr>
          <a:xfrm>
            <a:off x="3383280" y="1828800"/>
            <a:ext cx="2377440" cy="320040"/>
          </a:xfrm>
          <a:prstGeom prst="rect">
            <a:avLst/>
          </a:prstGeom>
          <a:noFill/>
          <a:ln/>
        </p:spPr>
        <p:txBody>
          <a:bodyPr wrap="square" lIns="0" tIns="0" rIns="0" bIns="0" rtlCol="0" anchor="t"/>
          <a:lstStyle/>
          <a:p>
            <a:pPr algn="ctr" indent="0" marL="0">
              <a:buNone/>
            </a:pPr>
            <a:r>
              <a:rPr lang="en-US" sz="1400" dirty="0">
                <a:solidFill>
                  <a:schemeClr val="tx2"/>
                </a:solidFill>
              </a:rPr>
              <a:t>trained, rank 16</a:t>
            </a:r>
            <a:endParaRPr lang="en-US" sz="1400" dirty="0"/>
          </a:p>
        </p:txBody>
      </p:sp>
      <p:sp>
        <p:nvSpPr>
          <p:cNvPr id="9" name="Diagram box 3"/>
          <p:cNvSpPr/>
          <p:nvPr/>
        </p:nvSpPr>
        <p:spPr>
          <a:xfrm>
            <a:off x="6217920" y="1280160"/>
            <a:ext cx="2377440" cy="1051560"/>
          </a:xfrm>
          <a:prstGeom prst="roundRect">
            <a:avLst>
              <a:gd name="adj" fmla="val 10435"/>
            </a:avLst>
          </a:prstGeom>
          <a:solidFill>
            <a:schemeClr val="tx2"/>
          </a:solidFill>
          <a:ln/>
        </p:spPr>
      </p:sp>
      <p:sp>
        <p:nvSpPr>
          <p:cNvPr id="10" name="Diagram title 3"/>
          <p:cNvSpPr txBox="1"/>
          <p:nvPr/>
        </p:nvSpPr>
        <p:spPr>
          <a:xfrm>
            <a:off x="6217920" y="1417320"/>
            <a:ext cx="2377440" cy="411480"/>
          </a:xfrm>
          <a:prstGeom prst="rect">
            <a:avLst/>
          </a:prstGeom>
          <a:noFill/>
          <a:ln/>
        </p:spPr>
        <p:txBody>
          <a:bodyPr wrap="square" lIns="0" tIns="0" rIns="0" bIns="0" rtlCol="0" anchor="t"/>
          <a:lstStyle/>
          <a:p>
            <a:pPr algn="ctr" indent="0" marL="0">
              <a:buNone/>
            </a:pPr>
            <a:r>
              <a:rPr lang="en-US" sz="1800" b="1" dirty="0">
                <a:solidFill>
                  <a:schemeClr val="bg1"/>
                </a:solidFill>
              </a:rPr>
              <a:t>Fine-tuned model</a:t>
            </a:r>
            <a:endParaRPr lang="en-US" sz="1800" dirty="0"/>
          </a:p>
        </p:txBody>
      </p:sp>
      <p:sp>
        <p:nvSpPr>
          <p:cNvPr id="11" name="Diagram sub 3"/>
          <p:cNvSpPr txBox="1"/>
          <p:nvPr/>
        </p:nvSpPr>
        <p:spPr>
          <a:xfrm>
            <a:off x="6217920" y="1828800"/>
            <a:ext cx="2377440" cy="320040"/>
          </a:xfrm>
          <a:prstGeom prst="rect">
            <a:avLst/>
          </a:prstGeom>
          <a:noFill/>
          <a:ln/>
        </p:spPr>
        <p:txBody>
          <a:bodyPr wrap="square" lIns="0" tIns="0" rIns="0" bIns="0" rtlCol="0" anchor="t"/>
          <a:lstStyle/>
          <a:p>
            <a:pPr algn="ctr" indent="0" marL="0">
              <a:buNone/>
            </a:pPr>
            <a:r>
              <a:rPr lang="en-US" sz="1400" dirty="0">
                <a:solidFill>
                  <a:schemeClr val="bg1"/>
                </a:solidFill>
              </a:rPr>
              <a:t>base + adapter</a:t>
            </a:r>
            <a:endParaRPr lang="en-US" sz="1400" dirty="0"/>
          </a:p>
        </p:txBody>
      </p:sp>
      <p:sp>
        <p:nvSpPr>
          <p:cNvPr id="12" name="Plus"/>
          <p:cNvSpPr txBox="1"/>
          <p:nvPr/>
        </p:nvSpPr>
        <p:spPr>
          <a:xfrm>
            <a:off x="2926080" y="1417320"/>
            <a:ext cx="457200" cy="777240"/>
          </a:xfrm>
          <a:prstGeom prst="rect">
            <a:avLst/>
          </a:prstGeom>
          <a:noFill/>
          <a:ln/>
        </p:spPr>
        <p:txBody>
          <a:bodyPr wrap="square" lIns="0" tIns="0" rIns="0" bIns="0" rtlCol="0" anchor="ctr"/>
          <a:lstStyle/>
          <a:p>
            <a:pPr algn="ctr" indent="0" marL="0">
              <a:buNone/>
            </a:pPr>
            <a:r>
              <a:rPr lang="en-US" sz="3200" b="1" dirty="0">
                <a:solidFill>
                  <a:schemeClr val="accent2"/>
                </a:solidFill>
              </a:rPr>
              <a:t>+</a:t>
            </a:r>
            <a:endParaRPr lang="en-US" sz="3200" dirty="0"/>
          </a:p>
        </p:txBody>
      </p:sp>
      <p:sp>
        <p:nvSpPr>
          <p:cNvPr id="13" name="Equals"/>
          <p:cNvSpPr txBox="1"/>
          <p:nvPr/>
        </p:nvSpPr>
        <p:spPr>
          <a:xfrm>
            <a:off x="5760720" y="1417320"/>
            <a:ext cx="457200" cy="777240"/>
          </a:xfrm>
          <a:prstGeom prst="rect">
            <a:avLst/>
          </a:prstGeom>
          <a:noFill/>
          <a:ln/>
        </p:spPr>
        <p:txBody>
          <a:bodyPr wrap="square" lIns="0" tIns="0" rIns="0" bIns="0" rtlCol="0" anchor="ctr"/>
          <a:lstStyle/>
          <a:p>
            <a:pPr algn="ctr" indent="0" marL="0">
              <a:buNone/>
            </a:pPr>
            <a:r>
              <a:rPr lang="en-US" sz="3200" b="1" dirty="0">
                <a:solidFill>
                  <a:schemeClr val="accent2"/>
                </a:solidFill>
              </a:rPr>
              <a:t>=</a:t>
            </a:r>
            <a:endParaRPr lang="en-US" sz="3200" dirty="0"/>
          </a:p>
        </p:txBody>
      </p:sp>
      <p:sp>
        <p:nvSpPr>
          <p:cNvPr id="14" name="Trainable text"/>
          <p:cNvSpPr txBox="1"/>
          <p:nvPr/>
        </p:nvSpPr>
        <p:spPr>
          <a:xfrm>
            <a:off x="548640" y="2560320"/>
            <a:ext cx="8046720" cy="274320"/>
          </a:xfrm>
          <a:prstGeom prst="rect">
            <a:avLst/>
          </a:prstGeom>
          <a:noFill/>
          <a:ln/>
        </p:spPr>
        <p:txBody>
          <a:bodyPr wrap="square" lIns="0" tIns="0" rIns="0" bIns="0" rtlCol="0" anchor="t"/>
          <a:lstStyle/>
          <a:p>
            <a:pPr indent="0" marL="0">
              <a:buNone/>
            </a:pPr>
            <a:r>
              <a:rPr lang="en-US" sz="1500" b="1" dirty="0">
                <a:solidFill>
                  <a:schemeClr val="tx1"/>
                </a:solidFill>
              </a:rPr>
              <a:t>Trainable parameters: </a:t>
            </a:r>
            <a:pPr indent="0" marL="0">
              <a:buNone/>
            </a:pPr>
            <a:r>
              <a:rPr lang="en-US" sz="1500" dirty="0">
                <a:solidFill>
                  <a:schemeClr val="tx1"/>
                </a:solidFill>
              </a:rPr>
              <a:t>17,432,576 of 1,738,007,552 (1.00%)</a:t>
            </a:r>
            <a:endParaRPr lang="en-US" sz="1500" dirty="0"/>
          </a:p>
        </p:txBody>
      </p:sp>
      <p:sp>
        <p:nvSpPr>
          <p:cNvPr id="15" name="Param bar"/>
          <p:cNvSpPr/>
          <p:nvPr/>
        </p:nvSpPr>
        <p:spPr>
          <a:xfrm>
            <a:off x="548640" y="2880360"/>
            <a:ext cx="8046720" cy="182880"/>
          </a:xfrm>
          <a:prstGeom prst="roundRect">
            <a:avLst>
              <a:gd name="adj" fmla="val 25000"/>
            </a:avLst>
          </a:prstGeom>
          <a:solidFill>
            <a:schemeClr val="bg2"/>
          </a:solidFill>
          <a:ln/>
        </p:spPr>
      </p:sp>
      <p:sp>
        <p:nvSpPr>
          <p:cNvPr id="16" name="Trainable sliver"/>
          <p:cNvSpPr/>
          <p:nvPr/>
        </p:nvSpPr>
        <p:spPr>
          <a:xfrm>
            <a:off x="548640" y="2880360"/>
            <a:ext cx="82296" cy="182880"/>
          </a:xfrm>
          <a:prstGeom prst="rect">
            <a:avLst/>
          </a:prstGeom>
          <a:solidFill>
            <a:schemeClr val="accent1"/>
          </a:solidFill>
          <a:ln/>
        </p:spPr>
      </p:sp>
      <p:sp>
        <p:nvSpPr>
          <p:cNvPr id="17" name="Config card 1"/>
          <p:cNvSpPr/>
          <p:nvPr/>
        </p:nvSpPr>
        <p:spPr>
          <a:xfrm>
            <a:off x="548640" y="3337560"/>
            <a:ext cx="1920240" cy="1143000"/>
          </a:xfrm>
          <a:prstGeom prst="roundRect">
            <a:avLst>
              <a:gd name="adj" fmla="val 9600"/>
            </a:avLst>
          </a:prstGeom>
          <a:solidFill>
            <a:schemeClr val="bg2"/>
          </a:solidFill>
          <a:ln/>
        </p:spPr>
      </p:sp>
      <p:sp>
        <p:nvSpPr>
          <p:cNvPr id="18" name="Config key 1"/>
          <p:cNvSpPr txBox="1"/>
          <p:nvPr/>
        </p:nvSpPr>
        <p:spPr>
          <a:xfrm>
            <a:off x="685800" y="3474720"/>
            <a:ext cx="1691640" cy="45720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dim: 16</a:t>
            </a:r>
            <a:endParaRPr lang="en-US" sz="1400" dirty="0"/>
          </a:p>
        </p:txBody>
      </p:sp>
      <p:sp>
        <p:nvSpPr>
          <p:cNvPr id="19" name="Config text 1"/>
          <p:cNvSpPr txBox="1"/>
          <p:nvPr/>
        </p:nvSpPr>
        <p:spPr>
          <a:xfrm>
            <a:off x="685800" y="3977640"/>
            <a:ext cx="1691640" cy="411480"/>
          </a:xfrm>
          <a:prstGeom prst="rect">
            <a:avLst/>
          </a:prstGeom>
          <a:noFill/>
          <a:ln/>
        </p:spPr>
        <p:txBody>
          <a:bodyPr wrap="square" lIns="0" tIns="0" rIns="0" bIns="0" rtlCol="0" anchor="t"/>
          <a:lstStyle/>
          <a:p>
            <a:pPr indent="0" marL="0">
              <a:buNone/>
            </a:pPr>
            <a:r>
              <a:rPr lang="en-US" sz="1300" dirty="0">
                <a:solidFill>
                  <a:schemeClr val="tx1"/>
                </a:solidFill>
              </a:rPr>
              <a:t>Rank: adapter capacity</a:t>
            </a:r>
            <a:endParaRPr lang="en-US" sz="1300" dirty="0"/>
          </a:p>
        </p:txBody>
      </p:sp>
      <p:sp>
        <p:nvSpPr>
          <p:cNvPr id="20" name="Config card 2"/>
          <p:cNvSpPr/>
          <p:nvPr/>
        </p:nvSpPr>
        <p:spPr>
          <a:xfrm>
            <a:off x="2587752" y="3337560"/>
            <a:ext cx="1920240" cy="1143000"/>
          </a:xfrm>
          <a:prstGeom prst="roundRect">
            <a:avLst>
              <a:gd name="adj" fmla="val 9600"/>
            </a:avLst>
          </a:prstGeom>
          <a:solidFill>
            <a:schemeClr val="bg2"/>
          </a:solidFill>
          <a:ln/>
        </p:spPr>
      </p:sp>
      <p:sp>
        <p:nvSpPr>
          <p:cNvPr id="21" name="Config key 2"/>
          <p:cNvSpPr txBox="1"/>
          <p:nvPr/>
        </p:nvSpPr>
        <p:spPr>
          <a:xfrm>
            <a:off x="2724912" y="3474720"/>
            <a:ext cx="1691640" cy="45720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alpha: 32</a:t>
            </a:r>
            <a:endParaRPr lang="en-US" sz="1400" dirty="0"/>
          </a:p>
        </p:txBody>
      </p:sp>
      <p:sp>
        <p:nvSpPr>
          <p:cNvPr id="22" name="Config text 2"/>
          <p:cNvSpPr txBox="1"/>
          <p:nvPr/>
        </p:nvSpPr>
        <p:spPr>
          <a:xfrm>
            <a:off x="2724912" y="3977640"/>
            <a:ext cx="1691640" cy="411480"/>
          </a:xfrm>
          <a:prstGeom prst="rect">
            <a:avLst/>
          </a:prstGeom>
          <a:noFill/>
          <a:ln/>
        </p:spPr>
        <p:txBody>
          <a:bodyPr wrap="square" lIns="0" tIns="0" rIns="0" bIns="0" rtlCol="0" anchor="t"/>
          <a:lstStyle/>
          <a:p>
            <a:pPr indent="0" marL="0">
              <a:buNone/>
            </a:pPr>
            <a:r>
              <a:rPr lang="en-US" sz="1300" dirty="0">
                <a:solidFill>
                  <a:schemeClr val="tx1"/>
                </a:solidFill>
              </a:rPr>
              <a:t>Scales the update</a:t>
            </a:r>
            <a:endParaRPr lang="en-US" sz="1300" dirty="0"/>
          </a:p>
        </p:txBody>
      </p:sp>
      <p:sp>
        <p:nvSpPr>
          <p:cNvPr id="23" name="Config card 3"/>
          <p:cNvSpPr/>
          <p:nvPr/>
        </p:nvSpPr>
        <p:spPr>
          <a:xfrm>
            <a:off x="4626864" y="3337560"/>
            <a:ext cx="1920240" cy="1143000"/>
          </a:xfrm>
          <a:prstGeom prst="roundRect">
            <a:avLst>
              <a:gd name="adj" fmla="val 9600"/>
            </a:avLst>
          </a:prstGeom>
          <a:solidFill>
            <a:schemeClr val="bg2"/>
          </a:solidFill>
          <a:ln/>
        </p:spPr>
      </p:sp>
      <p:sp>
        <p:nvSpPr>
          <p:cNvPr id="24" name="Config key 3"/>
          <p:cNvSpPr txBox="1"/>
          <p:nvPr/>
        </p:nvSpPr>
        <p:spPr>
          <a:xfrm>
            <a:off x="4764024" y="3474720"/>
            <a:ext cx="1691640" cy="457200"/>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dropout: 0.05</a:t>
            </a:r>
            <a:endParaRPr lang="en-US" sz="1400" dirty="0"/>
          </a:p>
        </p:txBody>
      </p:sp>
      <p:sp>
        <p:nvSpPr>
          <p:cNvPr id="25" name="Config text 3"/>
          <p:cNvSpPr txBox="1"/>
          <p:nvPr/>
        </p:nvSpPr>
        <p:spPr>
          <a:xfrm>
            <a:off x="4764024" y="3977640"/>
            <a:ext cx="1691640" cy="411480"/>
          </a:xfrm>
          <a:prstGeom prst="rect">
            <a:avLst/>
          </a:prstGeom>
          <a:noFill/>
          <a:ln/>
        </p:spPr>
        <p:txBody>
          <a:bodyPr wrap="square" lIns="0" tIns="0" rIns="0" bIns="0" rtlCol="0" anchor="t"/>
          <a:lstStyle/>
          <a:p>
            <a:pPr indent="0" marL="0">
              <a:buNone/>
            </a:pPr>
            <a:r>
              <a:rPr lang="en-US" sz="1300" dirty="0">
                <a:solidFill>
                  <a:schemeClr val="tx1"/>
                </a:solidFill>
              </a:rPr>
              <a:t>Regularization</a:t>
            </a:r>
            <a:endParaRPr lang="en-US" sz="1300" dirty="0"/>
          </a:p>
        </p:txBody>
      </p:sp>
      <p:sp>
        <p:nvSpPr>
          <p:cNvPr id="26" name="Config card 4"/>
          <p:cNvSpPr/>
          <p:nvPr/>
        </p:nvSpPr>
        <p:spPr>
          <a:xfrm>
            <a:off x="6665976" y="3337560"/>
            <a:ext cx="1920240" cy="1143000"/>
          </a:xfrm>
          <a:prstGeom prst="roundRect">
            <a:avLst>
              <a:gd name="adj" fmla="val 9600"/>
            </a:avLst>
          </a:prstGeom>
          <a:solidFill>
            <a:schemeClr val="bg2"/>
          </a:solidFill>
          <a:ln/>
        </p:spPr>
      </p:sp>
      <p:sp>
        <p:nvSpPr>
          <p:cNvPr id="27" name="Config key 4"/>
          <p:cNvSpPr txBox="1"/>
          <p:nvPr/>
        </p:nvSpPr>
        <p:spPr>
          <a:xfrm>
            <a:off x="6803136" y="3474720"/>
            <a:ext cx="1691640" cy="457200"/>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target_modules: "*_proj"</a:t>
            </a:r>
            <a:endParaRPr lang="en-US" sz="1100" dirty="0"/>
          </a:p>
        </p:txBody>
      </p:sp>
      <p:sp>
        <p:nvSpPr>
          <p:cNvPr id="28" name="Config text 4"/>
          <p:cNvSpPr txBox="1"/>
          <p:nvPr/>
        </p:nvSpPr>
        <p:spPr>
          <a:xfrm>
            <a:off x="6803136" y="3977640"/>
            <a:ext cx="1691640" cy="411480"/>
          </a:xfrm>
          <a:prstGeom prst="rect">
            <a:avLst/>
          </a:prstGeom>
          <a:noFill/>
          <a:ln/>
        </p:spPr>
        <p:txBody>
          <a:bodyPr wrap="square" lIns="0" tIns="0" rIns="0" bIns="0" rtlCol="0" anchor="t"/>
          <a:lstStyle/>
          <a:p>
            <a:pPr indent="0" marL="0">
              <a:buNone/>
            </a:pPr>
            <a:r>
              <a:rPr lang="en-US" sz="1300" dirty="0">
                <a:solidFill>
                  <a:schemeClr val="tx1"/>
                </a:solidFill>
              </a:rPr>
              <a:t>Layers that get adapters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Training setup</a:t>
            </a:r>
            <a:endParaRPr lang="en-US" sz="3600" dirty="0"/>
          </a:p>
        </p:txBody>
      </p:sp>
      <p:sp>
        <p:nvSpPr>
          <p:cNvPr id="3" name="Code panel"/>
          <p:cNvSpPr/>
          <p:nvPr/>
        </p:nvSpPr>
        <p:spPr>
          <a:xfrm>
            <a:off x="548640" y="1280160"/>
            <a:ext cx="4846320" cy="3200400"/>
          </a:xfrm>
          <a:prstGeom prst="roundRect">
            <a:avLst>
              <a:gd name="adj" fmla="val 3429"/>
            </a:avLst>
          </a:prstGeom>
          <a:solidFill>
            <a:schemeClr val="tx2"/>
          </a:solidFill>
          <a:ln/>
        </p:spPr>
      </p:sp>
      <p:sp>
        <p:nvSpPr>
          <p:cNvPr id="4" name="Code caption"/>
          <p:cNvSpPr txBox="1"/>
          <p:nvPr/>
        </p:nvSpPr>
        <p:spPr>
          <a:xfrm>
            <a:off x="777240" y="1389888"/>
            <a:ext cx="4389120" cy="228600"/>
          </a:xfrm>
          <a:prstGeom prst="rect">
            <a:avLst/>
          </a:prstGeom>
          <a:noFill/>
          <a:ln/>
        </p:spPr>
        <p:txBody>
          <a:bodyPr wrap="square" lIns="0" tIns="0" rIns="0" bIns="0" rtlCol="0" anchor="t"/>
          <a:lstStyle/>
          <a:p>
            <a:pPr indent="0" marL="0">
              <a:buNone/>
            </a:pPr>
            <a:r>
              <a:rPr lang="en-US" sz="1100" dirty="0">
                <a:solidFill>
                  <a:schemeClr val="accent6"/>
                </a:solidFill>
              </a:rPr>
              <a:t>finetune.yaml (trimmed)</a:t>
            </a:r>
            <a:endParaRPr lang="en-US" sz="1100" dirty="0"/>
          </a:p>
        </p:txBody>
      </p:sp>
      <p:sp>
        <p:nvSpPr>
          <p:cNvPr id="5" name="Code text"/>
          <p:cNvSpPr txBox="1"/>
          <p:nvPr/>
        </p:nvSpPr>
        <p:spPr>
          <a:xfrm>
            <a:off x="777240" y="1691640"/>
            <a:ext cx="4480560" cy="2743200"/>
          </a:xfrm>
          <a:prstGeom prst="rect">
            <a:avLst/>
          </a:prstGeom>
          <a:noFill/>
          <a:ln/>
        </p:spPr>
        <p:txBody>
          <a:bodyPr wrap="square" lIns="0" tIns="0" rIns="0" bIns="0" rtlCol="0" anchor="t"/>
          <a:lstStyle/>
          <a:p>
            <a:pPr indent="0" marL="0">
              <a:spcAft>
                <a:spcPts val="100"/>
              </a:spcAft>
              <a:buNone/>
            </a:pPr>
            <a:r>
              <a:rPr lang="en-US" sz="1050" b="1" dirty="0">
                <a:solidFill>
                  <a:schemeClr val="accent1"/>
                </a:solidFill>
                <a:latin typeface="Courier New" pitchFamily="34" charset="0"/>
                <a:ea typeface="Courier New" pitchFamily="34" charset="-122"/>
                <a:cs typeface="Courier New" pitchFamily="34" charset="-120"/>
              </a:rPr>
              <a:t>model:</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pretrained_model_name_or_path: Qwen/Qwen3-1.7B-Base</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torch_dtype: float16</a:t>
            </a:r>
            <a:endParaRPr lang="en-US" sz="1050" dirty="0"/>
          </a:p>
          <a:p>
            <a:pPr indent="0" marL="0">
              <a:spcAft>
                <a:spcPts val="100"/>
              </a:spcAft>
              <a:buNone/>
            </a:pPr>
            <a:r>
              <a:rPr lang="en-US" sz="1050" b="1" dirty="0">
                <a:solidFill>
                  <a:schemeClr val="accent1"/>
                </a:solidFill>
                <a:latin typeface="Courier New" pitchFamily="34" charset="0"/>
                <a:ea typeface="Courier New" pitchFamily="34" charset="-122"/>
                <a:cs typeface="Courier New" pitchFamily="34" charset="-120"/>
              </a:rPr>
              <a:t>step_scheduler:</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global_batch_size: 4</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local_batch_size: 1</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num_epochs: 1</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val_every_steps: 50</a:t>
            </a:r>
            <a:endParaRPr lang="en-US" sz="1050" dirty="0"/>
          </a:p>
          <a:p>
            <a:pPr indent="0" marL="0">
              <a:spcAft>
                <a:spcPts val="100"/>
              </a:spcAft>
              <a:buNone/>
            </a:pPr>
            <a:r>
              <a:rPr lang="en-US" sz="1050" b="1" dirty="0">
                <a:solidFill>
                  <a:schemeClr val="accent1"/>
                </a:solidFill>
                <a:latin typeface="Courier New" pitchFamily="34" charset="0"/>
                <a:ea typeface="Courier New" pitchFamily="34" charset="-122"/>
                <a:cs typeface="Courier New" pitchFamily="34" charset="-120"/>
              </a:rPr>
              <a:t>distributed:</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strategy: fsdp2</a:t>
            </a:r>
            <a:endParaRPr lang="en-US" sz="1050" dirty="0"/>
          </a:p>
          <a:p>
            <a:pPr indent="0" marL="0">
              <a:spcAft>
                <a:spcPts val="100"/>
              </a:spcAft>
              <a:buNone/>
            </a:pPr>
            <a:r>
              <a:rPr lang="en-US" sz="1050" b="1" dirty="0">
                <a:solidFill>
                  <a:schemeClr val="accent1"/>
                </a:solidFill>
                <a:latin typeface="Courier New" pitchFamily="34" charset="0"/>
                <a:ea typeface="Courier New" pitchFamily="34" charset="-122"/>
                <a:cs typeface="Courier New" pitchFamily="34" charset="-120"/>
              </a:rPr>
              <a:t>dataset:</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answer_only_loss_mask: true</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seq_length: 512</a:t>
            </a:r>
            <a:endParaRPr lang="en-US" sz="1050" dirty="0"/>
          </a:p>
          <a:p>
            <a:pPr indent="0" marL="0">
              <a:spcAft>
                <a:spcPts val="100"/>
              </a:spcAft>
              <a:buNone/>
            </a:pPr>
            <a:r>
              <a:rPr lang="en-US" sz="1050" b="1" dirty="0">
                <a:solidFill>
                  <a:schemeClr val="accent1"/>
                </a:solidFill>
                <a:latin typeface="Courier New" pitchFamily="34" charset="0"/>
                <a:ea typeface="Courier New" pitchFamily="34" charset="-122"/>
                <a:cs typeface="Courier New" pitchFamily="34" charset="-120"/>
              </a:rPr>
              <a:t>optimizer:</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lr: 2.0e-05</a:t>
            </a:r>
            <a:endParaRPr lang="en-US" sz="1050" dirty="0"/>
          </a:p>
          <a:p>
            <a:pPr indent="0" marL="0">
              <a:spcAft>
                <a:spcPts val="100"/>
              </a:spcAft>
              <a:buNone/>
            </a:pPr>
            <a:r>
              <a:rPr lang="en-US" sz="1050" dirty="0">
                <a:solidFill>
                  <a:schemeClr val="bg2"/>
                </a:solidFill>
                <a:latin typeface="Courier New" pitchFamily="34" charset="0"/>
                <a:ea typeface="Courier New" pitchFamily="34" charset="-122"/>
                <a:cs typeface="Courier New" pitchFamily="34" charset="-120"/>
              </a:rPr>
              <a:t>  weight_decay: 0.01</a:t>
            </a:r>
            <a:endParaRPr lang="en-US" sz="1050" dirty="0"/>
          </a:p>
        </p:txBody>
      </p:sp>
      <p:sp>
        <p:nvSpPr>
          <p:cNvPr id="6" name="Fact card 1"/>
          <p:cNvSpPr/>
          <p:nvPr/>
        </p:nvSpPr>
        <p:spPr>
          <a:xfrm>
            <a:off x="5577840" y="1280160"/>
            <a:ext cx="3017520" cy="713232"/>
          </a:xfrm>
          <a:prstGeom prst="roundRect">
            <a:avLst>
              <a:gd name="adj" fmla="val 15385"/>
            </a:avLst>
          </a:prstGeom>
          <a:solidFill>
            <a:schemeClr val="bg2"/>
          </a:solidFill>
          <a:ln/>
        </p:spPr>
      </p:sp>
      <p:sp>
        <p:nvSpPr>
          <p:cNvPr id="7" name="Fact title 1"/>
          <p:cNvSpPr txBox="1"/>
          <p:nvPr/>
        </p:nvSpPr>
        <p:spPr>
          <a:xfrm>
            <a:off x="5760720" y="1353312"/>
            <a:ext cx="2697480" cy="256032"/>
          </a:xfrm>
          <a:prstGeom prst="rect">
            <a:avLst/>
          </a:prstGeom>
          <a:noFill/>
          <a:ln/>
        </p:spPr>
        <p:txBody>
          <a:bodyPr wrap="square" lIns="0" tIns="0" rIns="0" bIns="0" rtlCol="0" anchor="t"/>
          <a:lstStyle/>
          <a:p>
            <a:pPr indent="0" marL="0">
              <a:buNone/>
            </a:pPr>
            <a:r>
              <a:rPr lang="en-US" sz="1500" b="1" dirty="0">
                <a:solidFill>
                  <a:schemeClr val="accent2"/>
                </a:solidFill>
              </a:rPr>
              <a:t>200 steps</a:t>
            </a:r>
            <a:endParaRPr lang="en-US" sz="1500" dirty="0"/>
          </a:p>
        </p:txBody>
      </p:sp>
      <p:sp>
        <p:nvSpPr>
          <p:cNvPr id="8" name="Fact text 1"/>
          <p:cNvSpPr txBox="1"/>
          <p:nvPr/>
        </p:nvSpPr>
        <p:spPr>
          <a:xfrm>
            <a:off x="5760720" y="1627632"/>
            <a:ext cx="2697480" cy="347472"/>
          </a:xfrm>
          <a:prstGeom prst="rect">
            <a:avLst/>
          </a:prstGeom>
          <a:noFill/>
          <a:ln/>
        </p:spPr>
        <p:txBody>
          <a:bodyPr wrap="square" lIns="0" tIns="0" rIns="0" bIns="0" rtlCol="0" anchor="t"/>
          <a:lstStyle/>
          <a:p>
            <a:pPr indent="0" marL="0">
              <a:buNone/>
            </a:pPr>
            <a:r>
              <a:rPr lang="en-US" sz="1200" dirty="0">
                <a:solidFill>
                  <a:schemeClr val="tx1"/>
                </a:solidFill>
              </a:rPr>
              <a:t>800 examples ÷ global batch 4, with 4 accumulation steps.</a:t>
            </a:r>
            <a:endParaRPr lang="en-US" sz="1200" dirty="0"/>
          </a:p>
        </p:txBody>
      </p:sp>
      <p:sp>
        <p:nvSpPr>
          <p:cNvPr id="9" name="Fact card 2"/>
          <p:cNvSpPr/>
          <p:nvPr/>
        </p:nvSpPr>
        <p:spPr>
          <a:xfrm>
            <a:off x="5577840" y="2084832"/>
            <a:ext cx="3017520" cy="713232"/>
          </a:xfrm>
          <a:prstGeom prst="roundRect">
            <a:avLst>
              <a:gd name="adj" fmla="val 15385"/>
            </a:avLst>
          </a:prstGeom>
          <a:solidFill>
            <a:schemeClr val="bg2"/>
          </a:solidFill>
          <a:ln/>
        </p:spPr>
      </p:sp>
      <p:sp>
        <p:nvSpPr>
          <p:cNvPr id="10" name="Fact title 2"/>
          <p:cNvSpPr txBox="1"/>
          <p:nvPr/>
        </p:nvSpPr>
        <p:spPr>
          <a:xfrm>
            <a:off x="5760720" y="2157984"/>
            <a:ext cx="2697480" cy="256032"/>
          </a:xfrm>
          <a:prstGeom prst="rect">
            <a:avLst/>
          </a:prstGeom>
          <a:noFill/>
          <a:ln/>
        </p:spPr>
        <p:txBody>
          <a:bodyPr wrap="square" lIns="0" tIns="0" rIns="0" bIns="0" rtlCol="0" anchor="t"/>
          <a:lstStyle/>
          <a:p>
            <a:pPr indent="0" marL="0">
              <a:buNone/>
            </a:pPr>
            <a:r>
              <a:rPr lang="en-US" sz="1500" b="1" dirty="0">
                <a:solidFill>
                  <a:schemeClr val="accent2"/>
                </a:solidFill>
              </a:rPr>
              <a:t>About 11 min</a:t>
            </a:r>
            <a:endParaRPr lang="en-US" sz="1500" dirty="0"/>
          </a:p>
        </p:txBody>
      </p:sp>
      <p:sp>
        <p:nvSpPr>
          <p:cNvPr id="11" name="Fact text 2"/>
          <p:cNvSpPr txBox="1"/>
          <p:nvPr/>
        </p:nvSpPr>
        <p:spPr>
          <a:xfrm>
            <a:off x="5760720" y="2432304"/>
            <a:ext cx="2697480" cy="347472"/>
          </a:xfrm>
          <a:prstGeom prst="rect">
            <a:avLst/>
          </a:prstGeom>
          <a:noFill/>
          <a:ln/>
        </p:spPr>
        <p:txBody>
          <a:bodyPr wrap="square" lIns="0" tIns="0" rIns="0" bIns="0" rtlCol="0" anchor="t"/>
          <a:lstStyle/>
          <a:p>
            <a:pPr indent="0" marL="0">
              <a:buNone/>
            </a:pPr>
            <a:r>
              <a:rPr lang="en-US" sz="1200" dirty="0">
                <a:solidFill>
                  <a:schemeClr val="tx1"/>
                </a:solidFill>
              </a:rPr>
              <a:t>Training time for 200 steps, from the progress bar.</a:t>
            </a:r>
            <a:endParaRPr lang="en-US" sz="1200" dirty="0"/>
          </a:p>
        </p:txBody>
      </p:sp>
      <p:sp>
        <p:nvSpPr>
          <p:cNvPr id="12" name="Fact card 3"/>
          <p:cNvSpPr/>
          <p:nvPr/>
        </p:nvSpPr>
        <p:spPr>
          <a:xfrm>
            <a:off x="5577840" y="2889504"/>
            <a:ext cx="3017520" cy="713232"/>
          </a:xfrm>
          <a:prstGeom prst="roundRect">
            <a:avLst>
              <a:gd name="adj" fmla="val 15385"/>
            </a:avLst>
          </a:prstGeom>
          <a:solidFill>
            <a:schemeClr val="bg2"/>
          </a:solidFill>
          <a:ln/>
        </p:spPr>
      </p:sp>
      <p:sp>
        <p:nvSpPr>
          <p:cNvPr id="13" name="Fact title 3"/>
          <p:cNvSpPr txBox="1"/>
          <p:nvPr/>
        </p:nvSpPr>
        <p:spPr>
          <a:xfrm>
            <a:off x="5760720" y="2962656"/>
            <a:ext cx="2697480" cy="256032"/>
          </a:xfrm>
          <a:prstGeom prst="rect">
            <a:avLst/>
          </a:prstGeom>
          <a:noFill/>
          <a:ln/>
        </p:spPr>
        <p:txBody>
          <a:bodyPr wrap="square" lIns="0" tIns="0" rIns="0" bIns="0" rtlCol="0" anchor="t"/>
          <a:lstStyle/>
          <a:p>
            <a:pPr indent="0" marL="0">
              <a:buNone/>
            </a:pPr>
            <a:r>
              <a:rPr lang="en-US" sz="1500" b="1" dirty="0">
                <a:solidFill>
                  <a:schemeClr val="accent2"/>
                </a:solidFill>
              </a:rPr>
              <a:t>Every 50 steps</a:t>
            </a:r>
            <a:endParaRPr lang="en-US" sz="1500" dirty="0"/>
          </a:p>
        </p:txBody>
      </p:sp>
      <p:sp>
        <p:nvSpPr>
          <p:cNvPr id="14" name="Fact text 3"/>
          <p:cNvSpPr txBox="1"/>
          <p:nvPr/>
        </p:nvSpPr>
        <p:spPr>
          <a:xfrm>
            <a:off x="5760720" y="3236976"/>
            <a:ext cx="2697480" cy="347472"/>
          </a:xfrm>
          <a:prstGeom prst="rect">
            <a:avLst/>
          </a:prstGeom>
          <a:noFill/>
          <a:ln/>
        </p:spPr>
        <p:txBody>
          <a:bodyPr wrap="square" lIns="0" tIns="0" rIns="0" bIns="0" rtlCol="0" anchor="t"/>
          <a:lstStyle/>
          <a:p>
            <a:pPr indent="0" marL="0">
              <a:buNone/>
            </a:pPr>
            <a:r>
              <a:rPr lang="en-US" sz="1200" dirty="0">
                <a:solidFill>
                  <a:schemeClr val="tx1"/>
                </a:solidFill>
              </a:rPr>
              <a:t>Validation plus a checkpoint: steps 49, 99, 149, 199.</a:t>
            </a:r>
            <a:endParaRPr lang="en-US" sz="1200" dirty="0"/>
          </a:p>
        </p:txBody>
      </p:sp>
      <p:sp>
        <p:nvSpPr>
          <p:cNvPr id="15" name="Fact card 4"/>
          <p:cNvSpPr/>
          <p:nvPr/>
        </p:nvSpPr>
        <p:spPr>
          <a:xfrm>
            <a:off x="5577840" y="3694176"/>
            <a:ext cx="3017520" cy="713232"/>
          </a:xfrm>
          <a:prstGeom prst="roundRect">
            <a:avLst>
              <a:gd name="adj" fmla="val 15385"/>
            </a:avLst>
          </a:prstGeom>
          <a:solidFill>
            <a:schemeClr val="bg2"/>
          </a:solidFill>
          <a:ln/>
        </p:spPr>
      </p:sp>
      <p:sp>
        <p:nvSpPr>
          <p:cNvPr id="16" name="Fact title 4"/>
          <p:cNvSpPr txBox="1"/>
          <p:nvPr/>
        </p:nvSpPr>
        <p:spPr>
          <a:xfrm>
            <a:off x="5760720" y="3767328"/>
            <a:ext cx="2697480" cy="256032"/>
          </a:xfrm>
          <a:prstGeom prst="rect">
            <a:avLst/>
          </a:prstGeom>
          <a:noFill/>
          <a:ln/>
        </p:spPr>
        <p:txBody>
          <a:bodyPr wrap="square" lIns="0" tIns="0" rIns="0" bIns="0" rtlCol="0" anchor="t"/>
          <a:lstStyle/>
          <a:p>
            <a:pPr indent="0" marL="0">
              <a:buNone/>
            </a:pPr>
            <a:r>
              <a:rPr lang="en-US" sz="1500" b="1" dirty="0">
                <a:solidFill>
                  <a:schemeClr val="accent2"/>
                </a:solidFill>
              </a:rPr>
              <a:t>Answer tokens only</a:t>
            </a:r>
            <a:endParaRPr lang="en-US" sz="1500" dirty="0"/>
          </a:p>
        </p:txBody>
      </p:sp>
      <p:sp>
        <p:nvSpPr>
          <p:cNvPr id="17" name="Fact text 4"/>
          <p:cNvSpPr txBox="1"/>
          <p:nvPr/>
        </p:nvSpPr>
        <p:spPr>
          <a:xfrm>
            <a:off x="5760720" y="4041648"/>
            <a:ext cx="2697480" cy="347472"/>
          </a:xfrm>
          <a:prstGeom prst="rect">
            <a:avLst/>
          </a:prstGeom>
          <a:noFill/>
          <a:ln/>
        </p:spPr>
        <p:txBody>
          <a:bodyPr wrap="square" lIns="0" tIns="0" rIns="0" bIns="0" rtlCol="0" anchor="t"/>
          <a:lstStyle/>
          <a:p>
            <a:pPr indent="0" marL="0">
              <a:buNone/>
            </a:pPr>
            <a:r>
              <a:rPr lang="en-US" sz="1200" dirty="0">
                <a:solidFill>
                  <a:schemeClr val="tx1"/>
                </a:solidFill>
              </a:rPr>
              <a:t>Masked cross-entropy ignores the prompt tokens.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Training and validation loss</a:t>
            </a:r>
            <a:endParaRPr lang="en-US" sz="3600" dirty="0"/>
          </a:p>
        </p:txBody>
      </p:sp>
      <p:sp>
        <p:nvSpPr>
          <p:cNvPr id="3" name="Train chart label"/>
          <p:cNvSpPr txBox="1"/>
          <p:nvPr/>
        </p:nvSpPr>
        <p:spPr>
          <a:xfrm>
            <a:off x="548640" y="1234440"/>
            <a:ext cx="3931920" cy="256032"/>
          </a:xfrm>
          <a:prstGeom prst="rect">
            <a:avLst/>
          </a:prstGeom>
          <a:noFill/>
          <a:ln/>
        </p:spPr>
        <p:txBody>
          <a:bodyPr wrap="square" lIns="0" tIns="0" rIns="0" bIns="0" rtlCol="0" anchor="t"/>
          <a:lstStyle/>
          <a:p>
            <a:pPr indent="0" marL="0">
              <a:buNone/>
            </a:pPr>
            <a:r>
              <a:rPr lang="en-US" sz="1200" b="1" dirty="0">
                <a:solidFill>
                  <a:schemeClr val="accent2"/>
                </a:solidFill>
              </a:rPr>
              <a:t>TRAINING LOSS, AVERAGE PER 25 STEPS</a:t>
            </a:r>
            <a:endParaRPr lang="en-US" sz="1200" dirty="0"/>
          </a:p>
        </p:txBody>
      </p:sp>
      <p:graphicFrame>
        <p:nvGraphicFramePr>
          <p:cNvPr id="4" name="Chart 0" descr=""/>
          <p:cNvGraphicFramePr/>
          <p:nvPr/>
        </p:nvGraphicFramePr>
        <p:xfrm>
          <a:off x="457200" y="1508760"/>
          <a:ext cx="4114800" cy="2468880"/>
        </p:xfrm>
        <a:graphic xmlns:a="http://schemas.openxmlformats.org/drawingml/2006/main">
          <a:graphicData uri="http://schemas.openxmlformats.org/drawingml/2006/chart">
            <c:chart xmlns:c="http://schemas.openxmlformats.org/drawingml/2006/chart" r:id="rId1"/>
          </a:graphicData>
        </a:graphic>
      </p:graphicFrame>
      <p:sp>
        <p:nvSpPr>
          <p:cNvPr id="5" name="Val chart label"/>
          <p:cNvSpPr txBox="1"/>
          <p:nvPr/>
        </p:nvSpPr>
        <p:spPr>
          <a:xfrm>
            <a:off x="4663440" y="1234440"/>
            <a:ext cx="3931920" cy="256032"/>
          </a:xfrm>
          <a:prstGeom prst="rect">
            <a:avLst/>
          </a:prstGeom>
          <a:noFill/>
          <a:ln/>
        </p:spPr>
        <p:txBody>
          <a:bodyPr wrap="square" lIns="0" tIns="0" rIns="0" bIns="0" rtlCol="0" anchor="t"/>
          <a:lstStyle/>
          <a:p>
            <a:pPr indent="0" marL="0">
              <a:buNone/>
            </a:pPr>
            <a:r>
              <a:rPr lang="en-US" sz="1200" b="1" dirty="0">
                <a:solidFill>
                  <a:schemeClr val="accent2"/>
                </a:solidFill>
              </a:rPr>
              <a:t>VALIDATION LOSS AT EACH CHECKPOINT</a:t>
            </a:r>
            <a:endParaRPr lang="en-US" sz="1200" dirty="0"/>
          </a:p>
        </p:txBody>
      </p:sp>
      <p:graphicFrame>
        <p:nvGraphicFramePr>
          <p:cNvPr id="6" name="Chart 1" descr=""/>
          <p:cNvGraphicFramePr/>
          <p:nvPr/>
        </p:nvGraphicFramePr>
        <p:xfrm>
          <a:off x="4572000" y="1508760"/>
          <a:ext cx="4114800" cy="2468880"/>
        </p:xfrm>
        <a:graphic xmlns:a="http://schemas.openxmlformats.org/drawingml/2006/main">
          <a:graphicData uri="http://schemas.openxmlformats.org/drawingml/2006/chart">
            <c:chart xmlns:c="http://schemas.openxmlformats.org/drawingml/2006/chart" r:id="rId2"/>
          </a:graphicData>
        </a:graphic>
      </p:graphicFrame>
      <p:sp>
        <p:nvSpPr>
          <p:cNvPr id="7" name="Train caption"/>
          <p:cNvSpPr txBox="1"/>
          <p:nvPr/>
        </p:nvSpPr>
        <p:spPr>
          <a:xfrm>
            <a:off x="548640" y="4023360"/>
            <a:ext cx="3931920" cy="640080"/>
          </a:xfrm>
          <a:prstGeom prst="rect">
            <a:avLst/>
          </a:prstGeom>
          <a:noFill/>
          <a:ln/>
        </p:spPr>
        <p:txBody>
          <a:bodyPr wrap="square" lIns="0" tIns="0" rIns="0" bIns="0" rtlCol="0" anchor="t"/>
          <a:lstStyle/>
          <a:p>
            <a:pPr indent="0" marL="0">
              <a:buNone/>
            </a:pPr>
            <a:r>
              <a:rPr lang="en-US" sz="1300" dirty="0">
                <a:solidFill>
                  <a:schemeClr val="accent5"/>
                </a:solidFill>
              </a:rPr>
              <a:t>Per-step loss is noisy (0.10 to 3.11) because each step uses 4 examples. The last block is the lowest, but there is no steady drop before it.</a:t>
            </a:r>
            <a:endParaRPr lang="en-US" sz="1300" dirty="0"/>
          </a:p>
        </p:txBody>
      </p:sp>
      <p:sp>
        <p:nvSpPr>
          <p:cNvPr id="8" name="Val caption"/>
          <p:cNvSpPr txBox="1"/>
          <p:nvPr/>
        </p:nvSpPr>
        <p:spPr>
          <a:xfrm>
            <a:off x="4663440" y="4023360"/>
            <a:ext cx="3931920" cy="640080"/>
          </a:xfrm>
          <a:prstGeom prst="rect">
            <a:avLst/>
          </a:prstGeom>
          <a:noFill/>
          <a:ln/>
        </p:spPr>
        <p:txBody>
          <a:bodyPr wrap="square" lIns="0" tIns="0" rIns="0" bIns="0" rtlCol="0" anchor="t"/>
          <a:lstStyle/>
          <a:p>
            <a:pPr indent="0" marL="0">
              <a:buNone/>
            </a:pPr>
            <a:r>
              <a:rPr lang="en-US" sz="1300" dirty="0">
                <a:solidFill>
                  <a:schemeClr val="accent5"/>
                </a:solidFill>
              </a:rPr>
              <a:t>Falls at every checkpoint, by 0.0175 in total (about 0.9%). Axis is zoomed. 100 examples, 9,129 answer tokens.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Base vs fine-tuned: metrics</a:t>
            </a:r>
            <a:endParaRPr lang="en-US" sz="3600" dirty="0"/>
          </a:p>
        </p:txBody>
      </p:sp>
      <p:sp>
        <p:nvSpPr>
          <p:cNvPr id="3" name="Preliminary badge"/>
          <p:cNvSpPr/>
          <p:nvPr/>
        </p:nvSpPr>
        <p:spPr>
          <a:xfrm>
            <a:off x="7040880" y="566928"/>
            <a:ext cx="1554480" cy="292608"/>
          </a:xfrm>
          <a:prstGeom prst="roundRect">
            <a:avLst>
              <a:gd name="adj" fmla="val 46875"/>
            </a:avLst>
          </a:prstGeom>
          <a:solidFill>
            <a:schemeClr val="accent4"/>
          </a:solidFill>
          <a:ln/>
        </p:spPr>
        <p:txBody>
          <a:bodyPr wrap="square" lIns="0" tIns="0" rIns="0" bIns="0" rtlCol="0" anchor="ctr"/>
          <a:lstStyle/>
          <a:p>
            <a:pPr algn="ctr" indent="0" marL="0">
              <a:buNone/>
            </a:pPr>
            <a:r>
              <a:rPr lang="en-US" sz="1200" b="1" spc="200" kern="0" dirty="0">
                <a:solidFill>
                  <a:schemeClr val="bg1"/>
                </a:solidFill>
              </a:rPr>
              <a:t>PRELIMINARY</a:t>
            </a:r>
            <a:endParaRPr lang="en-US" sz="1200" dirty="0"/>
          </a:p>
        </p:txBody>
      </p:sp>
      <p:sp>
        <p:nvSpPr>
          <p:cNvPr id="4" name="Loss label"/>
          <p:cNvSpPr txBox="1"/>
          <p:nvPr/>
        </p:nvSpPr>
        <p:spPr>
          <a:xfrm>
            <a:off x="548640" y="1234440"/>
            <a:ext cx="3931920" cy="256032"/>
          </a:xfrm>
          <a:prstGeom prst="rect">
            <a:avLst/>
          </a:prstGeom>
          <a:noFill/>
          <a:ln/>
        </p:spPr>
        <p:txBody>
          <a:bodyPr wrap="square" lIns="0" tIns="0" rIns="0" bIns="0" rtlCol="0" anchor="t"/>
          <a:lstStyle/>
          <a:p>
            <a:pPr indent="0" marL="0">
              <a:buNone/>
            </a:pPr>
            <a:r>
              <a:rPr lang="en-US" sz="1200" b="1" dirty="0">
                <a:solidFill>
                  <a:schemeClr val="accent2"/>
                </a:solidFill>
              </a:rPr>
              <a:t>ANSWER-TOKEN LOSS</a:t>
            </a:r>
            <a:endParaRPr lang="en-US" sz="1200" dirty="0"/>
          </a:p>
        </p:txBody>
      </p:sp>
      <p:graphicFrame>
        <p:nvGraphicFramePr>
          <p:cNvPr id="5" name="Chart 0" descr=""/>
          <p:cNvGraphicFramePr/>
          <p:nvPr/>
        </p:nvGraphicFramePr>
        <p:xfrm>
          <a:off x="457200" y="1463040"/>
          <a:ext cx="4023360" cy="2103120"/>
        </p:xfrm>
        <a:graphic xmlns:a="http://schemas.openxmlformats.org/drawingml/2006/main">
          <a:graphicData uri="http://schemas.openxmlformats.org/drawingml/2006/chart">
            <c:chart xmlns:c="http://schemas.openxmlformats.org/drawingml/2006/chart" r:id="rId1"/>
          </a:graphicData>
        </a:graphic>
      </p:graphicFrame>
      <p:sp>
        <p:nvSpPr>
          <p:cNvPr id="6" name="Ppl label"/>
          <p:cNvSpPr txBox="1"/>
          <p:nvPr/>
        </p:nvSpPr>
        <p:spPr>
          <a:xfrm>
            <a:off x="4663440" y="1234440"/>
            <a:ext cx="3931920" cy="256032"/>
          </a:xfrm>
          <a:prstGeom prst="rect">
            <a:avLst/>
          </a:prstGeom>
          <a:noFill/>
          <a:ln/>
        </p:spPr>
        <p:txBody>
          <a:bodyPr wrap="square" lIns="0" tIns="0" rIns="0" bIns="0" rtlCol="0" anchor="t"/>
          <a:lstStyle/>
          <a:p>
            <a:pPr indent="0" marL="0">
              <a:buNone/>
            </a:pPr>
            <a:r>
              <a:rPr lang="en-US" sz="1200" b="1" dirty="0">
                <a:solidFill>
                  <a:schemeClr val="accent2"/>
                </a:solidFill>
              </a:rPr>
              <a:t>PERPLEXITY</a:t>
            </a:r>
            <a:endParaRPr lang="en-US" sz="1200" dirty="0"/>
          </a:p>
        </p:txBody>
      </p:sp>
      <p:graphicFrame>
        <p:nvGraphicFramePr>
          <p:cNvPr id="7" name="Chart 1" descr=""/>
          <p:cNvGraphicFramePr/>
          <p:nvPr/>
        </p:nvGraphicFramePr>
        <p:xfrm>
          <a:off x="4572000" y="1463040"/>
          <a:ext cx="4023360" cy="2103120"/>
        </p:xfrm>
        <a:graphic xmlns:a="http://schemas.openxmlformats.org/drawingml/2006/main">
          <a:graphicData uri="http://schemas.openxmlformats.org/drawingml/2006/chart">
            <c:chart xmlns:c="http://schemas.openxmlformats.org/drawingml/2006/chart" r:id="rId2"/>
          </a:graphicData>
        </a:graphic>
      </p:graphicFrame>
      <p:sp>
        <p:nvSpPr>
          <p:cNvPr id="8" name="Delta card"/>
          <p:cNvSpPr/>
          <p:nvPr/>
        </p:nvSpPr>
        <p:spPr>
          <a:xfrm>
            <a:off x="548640" y="3703320"/>
            <a:ext cx="3291840" cy="822960"/>
          </a:xfrm>
          <a:prstGeom prst="roundRect">
            <a:avLst>
              <a:gd name="adj" fmla="val 13333"/>
            </a:avLst>
          </a:prstGeom>
          <a:solidFill>
            <a:schemeClr val="bg2"/>
          </a:solidFill>
          <a:ln/>
        </p:spPr>
      </p:sp>
      <p:sp>
        <p:nvSpPr>
          <p:cNvPr id="9" name="Delta text"/>
          <p:cNvSpPr txBox="1"/>
          <p:nvPr/>
        </p:nvSpPr>
        <p:spPr>
          <a:xfrm>
            <a:off x="777240" y="3767328"/>
            <a:ext cx="2926080" cy="713232"/>
          </a:xfrm>
          <a:prstGeom prst="rect">
            <a:avLst/>
          </a:prstGeom>
          <a:noFill/>
          <a:ln/>
        </p:spPr>
        <p:txBody>
          <a:bodyPr wrap="square" lIns="0" tIns="0" rIns="0" bIns="0" rtlCol="0" anchor="t"/>
          <a:lstStyle/>
          <a:p>
            <a:pPr indent="0" marL="0">
              <a:buNone/>
            </a:pPr>
            <a:r>
              <a:rPr lang="en-US" sz="1300" b="1" dirty="0">
                <a:solidFill>
                  <a:schemeClr val="tx1"/>
                </a:solidFill>
              </a:rPr>
              <a:t>Change after fine-tuning</a:t>
            </a:r>
            <a:endParaRPr lang="en-US" sz="1300" dirty="0"/>
          </a:p>
          <a:p>
            <a:pPr indent="0" marL="0">
              <a:buNone/>
            </a:pPr>
            <a:r>
              <a:rPr lang="en-US" sz="1300" dirty="0">
                <a:solidFill>
                  <a:schemeClr val="tx1"/>
                </a:solidFill>
              </a:rPr>
              <a:t>Loss −0.051 (−3.0%)</a:t>
            </a:r>
            <a:endParaRPr lang="en-US" sz="1300" dirty="0"/>
          </a:p>
          <a:p>
            <a:pPr indent="0" marL="0">
              <a:buNone/>
            </a:pPr>
            <a:r>
              <a:rPr lang="en-US" sz="1300" dirty="0">
                <a:solidFill>
                  <a:schemeClr val="tx1"/>
                </a:solidFill>
              </a:rPr>
              <a:t>Perplexity −0.26 (−4.9%)</a:t>
            </a:r>
            <a:endParaRPr lang="en-US" sz="1300" dirty="0"/>
          </a:p>
        </p:txBody>
      </p:sp>
      <p:sp>
        <p:nvSpPr>
          <p:cNvPr id="10" name="Caveat card"/>
          <p:cNvSpPr/>
          <p:nvPr/>
        </p:nvSpPr>
        <p:spPr>
          <a:xfrm>
            <a:off x="4023360" y="3703320"/>
            <a:ext cx="4572000" cy="822960"/>
          </a:xfrm>
          <a:prstGeom prst="roundRect">
            <a:avLst>
              <a:gd name="adj" fmla="val 13333"/>
            </a:avLst>
          </a:prstGeom>
          <a:solidFill>
            <a:schemeClr val="tx2"/>
          </a:solidFill>
          <a:ln/>
        </p:spPr>
      </p:sp>
      <p:sp>
        <p:nvSpPr>
          <p:cNvPr id="11" name="Caveat text"/>
          <p:cNvSpPr txBox="1"/>
          <p:nvPr/>
        </p:nvSpPr>
        <p:spPr>
          <a:xfrm>
            <a:off x="4251960" y="3749040"/>
            <a:ext cx="4160520" cy="731520"/>
          </a:xfrm>
          <a:prstGeom prst="rect">
            <a:avLst/>
          </a:prstGeom>
          <a:noFill/>
          <a:ln/>
        </p:spPr>
        <p:txBody>
          <a:bodyPr wrap="square" lIns="0" tIns="0" rIns="0" bIns="0" rtlCol="0" anchor="ctr"/>
          <a:lstStyle/>
          <a:p>
            <a:pPr indent="0" marL="0">
              <a:buNone/>
            </a:pPr>
            <a:r>
              <a:rPr lang="en-US" sz="1300" dirty="0">
                <a:solidFill>
                  <a:schemeClr val="bg1"/>
                </a:solidFill>
              </a:rPr>
              <a:t>100 test examples, 7,492 answer tokens per model. Token alignment with NeMo’s loss was not verified, and this is a single run.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Example 1: factual question</a:t>
            </a:r>
            <a:endParaRPr lang="en-US" sz="3600" dirty="0"/>
          </a:p>
        </p:txBody>
      </p:sp>
      <p:sp>
        <p:nvSpPr>
          <p:cNvPr id="3" name="Instruction"/>
          <p:cNvSpPr txBox="1"/>
          <p:nvPr/>
        </p:nvSpPr>
        <p:spPr>
          <a:xfrm>
            <a:off x="548640" y="1143000"/>
            <a:ext cx="8046720" cy="274320"/>
          </a:xfrm>
          <a:prstGeom prst="rect">
            <a:avLst/>
          </a:prstGeom>
          <a:noFill/>
          <a:ln/>
        </p:spPr>
        <p:txBody>
          <a:bodyPr wrap="square" lIns="0" tIns="0" rIns="0" bIns="0" rtlCol="0" anchor="t"/>
          <a:lstStyle/>
          <a:p>
            <a:pPr indent="0" marL="0">
              <a:buNone/>
            </a:pPr>
            <a:r>
              <a:rPr lang="en-US" sz="1600" b="1" dirty="0">
                <a:solidFill>
                  <a:schemeClr val="tx1"/>
                </a:solidFill>
              </a:rPr>
              <a:t>Instruction: </a:t>
            </a:r>
            <a:pPr indent="0" marL="0">
              <a:buNone/>
            </a:pPr>
            <a:r>
              <a:rPr lang="en-US" sz="1600" dirty="0">
                <a:solidFill>
                  <a:schemeClr val="tx1"/>
                </a:solidFill>
              </a:rPr>
              <a:t>what is the Bieh State</a:t>
            </a:r>
            <a:endParaRPr lang="en-US" sz="1600" dirty="0"/>
          </a:p>
        </p:txBody>
      </p:sp>
      <p:sp>
        <p:nvSpPr>
          <p:cNvPr id="4" name="Col card 1"/>
          <p:cNvSpPr/>
          <p:nvPr/>
        </p:nvSpPr>
        <p:spPr>
          <a:xfrm>
            <a:off x="548640" y="1554480"/>
            <a:ext cx="2560320" cy="2423160"/>
          </a:xfrm>
          <a:prstGeom prst="roundRect">
            <a:avLst>
              <a:gd name="adj" fmla="val 4528"/>
            </a:avLst>
          </a:prstGeom>
          <a:solidFill>
            <a:schemeClr val="bg2"/>
          </a:solidFill>
          <a:ln/>
        </p:spPr>
      </p:sp>
      <p:sp>
        <p:nvSpPr>
          <p:cNvPr id="5" name="Col label 1"/>
          <p:cNvSpPr txBox="1"/>
          <p:nvPr/>
        </p:nvSpPr>
        <p:spPr>
          <a:xfrm>
            <a:off x="731520" y="1691640"/>
            <a:ext cx="2194560" cy="256032"/>
          </a:xfrm>
          <a:prstGeom prst="rect">
            <a:avLst/>
          </a:prstGeom>
          <a:noFill/>
          <a:ln/>
        </p:spPr>
        <p:txBody>
          <a:bodyPr wrap="square" lIns="0" tIns="0" rIns="0" bIns="0" rtlCol="0" anchor="t"/>
          <a:lstStyle/>
          <a:p>
            <a:pPr indent="0" marL="0">
              <a:buNone/>
            </a:pPr>
            <a:r>
              <a:rPr lang="en-US" sz="1200" b="1" dirty="0">
                <a:solidFill>
                  <a:schemeClr val="accent2"/>
                </a:solidFill>
              </a:rPr>
              <a:t>REFERENCE</a:t>
            </a:r>
            <a:endParaRPr lang="en-US" sz="1200" dirty="0"/>
          </a:p>
        </p:txBody>
      </p:sp>
      <p:sp>
        <p:nvSpPr>
          <p:cNvPr id="6" name="Col text 1"/>
          <p:cNvSpPr txBox="1"/>
          <p:nvPr/>
        </p:nvSpPr>
        <p:spPr>
          <a:xfrm>
            <a:off x="731520" y="2011680"/>
            <a:ext cx="2194560" cy="1371600"/>
          </a:xfrm>
          <a:prstGeom prst="rect">
            <a:avLst/>
          </a:prstGeom>
          <a:noFill/>
          <a:ln/>
        </p:spPr>
        <p:txBody>
          <a:bodyPr wrap="square" lIns="0" tIns="0" rIns="0" bIns="0" rtlCol="0" anchor="t"/>
          <a:lstStyle/>
          <a:p>
            <a:pPr indent="0" marL="0">
              <a:buNone/>
            </a:pPr>
            <a:r>
              <a:rPr lang="en-US" sz="1200" dirty="0">
                <a:solidFill>
                  <a:schemeClr val="tx1"/>
                </a:solidFill>
              </a:rPr>
              <a:t>Bieh State (previously named Eastern Bieh State) was in South Sudan between 2 October 2015 and 22 February 2020. It was located in the Greater Upper Nile region…</a:t>
            </a:r>
            <a:endParaRPr lang="en-US" sz="1200" dirty="0"/>
          </a:p>
        </p:txBody>
      </p:sp>
      <p:sp>
        <p:nvSpPr>
          <p:cNvPr id="7" name="Col note 1"/>
          <p:cNvSpPr txBox="1"/>
          <p:nvPr/>
        </p:nvSpPr>
        <p:spPr>
          <a:xfrm>
            <a:off x="731520" y="3429000"/>
            <a:ext cx="2194560" cy="457200"/>
          </a:xfrm>
          <a:prstGeom prst="rect">
            <a:avLst/>
          </a:prstGeom>
          <a:noFill/>
          <a:ln/>
        </p:spPr>
        <p:txBody>
          <a:bodyPr wrap="square" lIns="0" tIns="0" rIns="0" bIns="0" rtlCol="0" anchor="t"/>
          <a:lstStyle/>
          <a:p>
            <a:pPr indent="0" marL="0">
              <a:buNone/>
            </a:pPr>
            <a:r>
              <a:rPr lang="en-US" sz="1100" i="1" dirty="0">
                <a:solidFill>
                  <a:schemeClr val="accent5"/>
                </a:solidFill>
              </a:rPr>
              <a:t>(truncated)</a:t>
            </a:r>
            <a:endParaRPr lang="en-US" sz="1100" dirty="0"/>
          </a:p>
        </p:txBody>
      </p:sp>
      <p:sp>
        <p:nvSpPr>
          <p:cNvPr id="8" name="Col card 2"/>
          <p:cNvSpPr/>
          <p:nvPr/>
        </p:nvSpPr>
        <p:spPr>
          <a:xfrm>
            <a:off x="3291840" y="1554480"/>
            <a:ext cx="2560320" cy="2423160"/>
          </a:xfrm>
          <a:prstGeom prst="roundRect">
            <a:avLst>
              <a:gd name="adj" fmla="val 4528"/>
            </a:avLst>
          </a:prstGeom>
          <a:solidFill>
            <a:schemeClr val="bg2"/>
          </a:solidFill>
          <a:ln/>
        </p:spPr>
      </p:sp>
      <p:sp>
        <p:nvSpPr>
          <p:cNvPr id="9" name="Col label 2"/>
          <p:cNvSpPr txBox="1"/>
          <p:nvPr/>
        </p:nvSpPr>
        <p:spPr>
          <a:xfrm>
            <a:off x="3474720" y="1691640"/>
            <a:ext cx="2194560" cy="256032"/>
          </a:xfrm>
          <a:prstGeom prst="rect">
            <a:avLst/>
          </a:prstGeom>
          <a:noFill/>
          <a:ln/>
        </p:spPr>
        <p:txBody>
          <a:bodyPr wrap="square" lIns="0" tIns="0" rIns="0" bIns="0" rtlCol="0" anchor="t"/>
          <a:lstStyle/>
          <a:p>
            <a:pPr indent="0" marL="0">
              <a:buNone/>
            </a:pPr>
            <a:r>
              <a:rPr lang="en-US" sz="1200" b="1" dirty="0">
                <a:solidFill>
                  <a:schemeClr val="accent5"/>
                </a:solidFill>
              </a:rPr>
              <a:t>BASE MODEL</a:t>
            </a:r>
            <a:endParaRPr lang="en-US" sz="1200" dirty="0"/>
          </a:p>
        </p:txBody>
      </p:sp>
      <p:sp>
        <p:nvSpPr>
          <p:cNvPr id="10" name="Col text 2"/>
          <p:cNvSpPr txBox="1"/>
          <p:nvPr/>
        </p:nvSpPr>
        <p:spPr>
          <a:xfrm>
            <a:off x="3474720" y="2011680"/>
            <a:ext cx="2194560" cy="1371600"/>
          </a:xfrm>
          <a:prstGeom prst="rect">
            <a:avLst/>
          </a:prstGeom>
          <a:noFill/>
          <a:ln/>
        </p:spPr>
        <p:txBody>
          <a:bodyPr wrap="square" lIns="0" tIns="0" rIns="0" bIns="0" rtlCol="0" anchor="t"/>
          <a:lstStyle/>
          <a:p>
            <a:pPr indent="0" marL="0">
              <a:buNone/>
            </a:pPr>
            <a:r>
              <a:rPr lang="en-US" sz="1200" dirty="0">
                <a:solidFill>
                  <a:schemeClr val="tx1"/>
                </a:solidFill>
              </a:rPr>
              <a:t>The Bieh State is a fictional state in the United States, created for the purpose of testing the limits of the U.S. Constitution and the Bill of Rights. It was established in 1999 by the U.S. Congress…</a:t>
            </a:r>
            <a:endParaRPr lang="en-US" sz="1200" dirty="0"/>
          </a:p>
        </p:txBody>
      </p:sp>
      <p:sp>
        <p:nvSpPr>
          <p:cNvPr id="11" name="Col note 2"/>
          <p:cNvSpPr txBox="1"/>
          <p:nvPr/>
        </p:nvSpPr>
        <p:spPr>
          <a:xfrm>
            <a:off x="3474720" y="3429000"/>
            <a:ext cx="2194560" cy="457200"/>
          </a:xfrm>
          <a:prstGeom prst="rect">
            <a:avLst/>
          </a:prstGeom>
          <a:noFill/>
          <a:ln/>
        </p:spPr>
        <p:txBody>
          <a:bodyPr wrap="square" lIns="0" tIns="0" rIns="0" bIns="0" rtlCol="0" anchor="t"/>
          <a:lstStyle/>
          <a:p>
            <a:pPr indent="0" marL="0">
              <a:buNone/>
            </a:pPr>
            <a:r>
              <a:rPr lang="en-US" sz="1100" i="1" dirty="0">
                <a:solidFill>
                  <a:schemeClr val="accent5"/>
                </a:solidFill>
              </a:rPr>
              <a:t>(continues with Explanation, Key Points and Conclusion sections)</a:t>
            </a:r>
            <a:endParaRPr lang="en-US" sz="1100" dirty="0"/>
          </a:p>
        </p:txBody>
      </p:sp>
      <p:sp>
        <p:nvSpPr>
          <p:cNvPr id="12" name="Col card 3"/>
          <p:cNvSpPr/>
          <p:nvPr/>
        </p:nvSpPr>
        <p:spPr>
          <a:xfrm>
            <a:off x="6035040" y="1554480"/>
            <a:ext cx="2560320" cy="2423160"/>
          </a:xfrm>
          <a:prstGeom prst="roundRect">
            <a:avLst>
              <a:gd name="adj" fmla="val 4528"/>
            </a:avLst>
          </a:prstGeom>
          <a:solidFill>
            <a:schemeClr val="tx2"/>
          </a:solidFill>
          <a:ln/>
        </p:spPr>
      </p:sp>
      <p:sp>
        <p:nvSpPr>
          <p:cNvPr id="13" name="Col label 3"/>
          <p:cNvSpPr txBox="1"/>
          <p:nvPr/>
        </p:nvSpPr>
        <p:spPr>
          <a:xfrm>
            <a:off x="6217920" y="1691640"/>
            <a:ext cx="2194560" cy="256032"/>
          </a:xfrm>
          <a:prstGeom prst="rect">
            <a:avLst/>
          </a:prstGeom>
          <a:noFill/>
          <a:ln/>
        </p:spPr>
        <p:txBody>
          <a:bodyPr wrap="square" lIns="0" tIns="0" rIns="0" bIns="0" rtlCol="0" anchor="t"/>
          <a:lstStyle/>
          <a:p>
            <a:pPr indent="0" marL="0">
              <a:buNone/>
            </a:pPr>
            <a:r>
              <a:rPr lang="en-US" sz="1200" b="1" dirty="0">
                <a:solidFill>
                  <a:schemeClr val="accent1"/>
                </a:solidFill>
              </a:rPr>
              <a:t>FINE-TUNED MODEL</a:t>
            </a:r>
            <a:endParaRPr lang="en-US" sz="1200" dirty="0"/>
          </a:p>
        </p:txBody>
      </p:sp>
      <p:sp>
        <p:nvSpPr>
          <p:cNvPr id="14" name="Col text 3"/>
          <p:cNvSpPr txBox="1"/>
          <p:nvPr/>
        </p:nvSpPr>
        <p:spPr>
          <a:xfrm>
            <a:off x="6217920" y="2011680"/>
            <a:ext cx="2194560" cy="1371600"/>
          </a:xfrm>
          <a:prstGeom prst="rect">
            <a:avLst/>
          </a:prstGeom>
          <a:noFill/>
          <a:ln/>
        </p:spPr>
        <p:txBody>
          <a:bodyPr wrap="square" lIns="0" tIns="0" rIns="0" bIns="0" rtlCol="0" anchor="t"/>
          <a:lstStyle/>
          <a:p>
            <a:pPr indent="0" marL="0">
              <a:buNone/>
            </a:pPr>
            <a:r>
              <a:rPr lang="en-US" sz="1200" dirty="0">
                <a:solidFill>
                  <a:schemeClr val="bg1"/>
                </a:solidFill>
              </a:rPr>
              <a:t>The Bieh State is a state in the United States. It is located in the state of New Mexico. The Bieh State is a small state with a population of 10,000 people…</a:t>
            </a:r>
            <a:endParaRPr lang="en-US" sz="1200" dirty="0"/>
          </a:p>
        </p:txBody>
      </p:sp>
      <p:sp>
        <p:nvSpPr>
          <p:cNvPr id="15" name="Col note 3"/>
          <p:cNvSpPr txBox="1"/>
          <p:nvPr/>
        </p:nvSpPr>
        <p:spPr>
          <a:xfrm>
            <a:off x="6217920" y="3429000"/>
            <a:ext cx="2194560" cy="457200"/>
          </a:xfrm>
          <a:prstGeom prst="rect">
            <a:avLst/>
          </a:prstGeom>
          <a:noFill/>
          <a:ln/>
        </p:spPr>
        <p:txBody>
          <a:bodyPr wrap="square" lIns="0" tIns="0" rIns="0" bIns="0" rtlCol="0" anchor="t"/>
          <a:lstStyle/>
          <a:p>
            <a:pPr indent="0" marL="0">
              <a:buNone/>
            </a:pPr>
            <a:r>
              <a:rPr lang="en-US" sz="1100" i="1" dirty="0">
                <a:solidFill>
                  <a:schemeClr val="bg2"/>
                </a:solidFill>
              </a:rPr>
              <a:t>(repeats the same sentences until the output is cut off)</a:t>
            </a:r>
            <a:endParaRPr lang="en-US" sz="1100" dirty="0"/>
          </a:p>
        </p:txBody>
      </p:sp>
      <p:sp>
        <p:nvSpPr>
          <p:cNvPr id="16" name="Takeaway band"/>
          <p:cNvSpPr/>
          <p:nvPr/>
        </p:nvSpPr>
        <p:spPr>
          <a:xfrm>
            <a:off x="548640" y="4114800"/>
            <a:ext cx="8046720" cy="457200"/>
          </a:xfrm>
          <a:prstGeom prst="roundRect">
            <a:avLst>
              <a:gd name="adj" fmla="val 24000"/>
            </a:avLst>
          </a:prstGeom>
          <a:solidFill>
            <a:schemeClr val="bg2"/>
          </a:solidFill>
          <a:ln/>
        </p:spPr>
      </p:sp>
      <p:sp>
        <p:nvSpPr>
          <p:cNvPr id="17" name="Takeaway text"/>
          <p:cNvSpPr txBox="1"/>
          <p:nvPr/>
        </p:nvSpPr>
        <p:spPr>
          <a:xfrm>
            <a:off x="777240" y="4114800"/>
            <a:ext cx="7589520" cy="457200"/>
          </a:xfrm>
          <a:prstGeom prst="rect">
            <a:avLst/>
          </a:prstGeom>
          <a:noFill/>
          <a:ln/>
        </p:spPr>
        <p:txBody>
          <a:bodyPr wrap="square" lIns="0" tIns="0" rIns="0" bIns="0" rtlCol="0" anchor="ctr"/>
          <a:lstStyle/>
          <a:p>
            <a:pPr indent="0" marL="0">
              <a:buNone/>
            </a:pPr>
            <a:r>
              <a:rPr lang="en-US" sz="1400" b="1" dirty="0">
                <a:solidFill>
                  <a:schemeClr val="tx1"/>
                </a:solidFill>
              </a:rPr>
              <a:t>Both models give wrong facts compared with the reference. The fine-tuned model also repeats itself.</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Examples 2 and 3: short tasks</a:t>
            </a:r>
            <a:endParaRPr lang="en-US" sz="3600" dirty="0"/>
          </a:p>
        </p:txBody>
      </p:sp>
      <p:sp>
        <p:nvSpPr>
          <p:cNvPr id="3" name="Instruction 2"/>
          <p:cNvSpPr txBox="1"/>
          <p:nvPr/>
        </p:nvSpPr>
        <p:spPr>
          <a:xfrm>
            <a:off x="548640" y="1188720"/>
            <a:ext cx="8046720" cy="256032"/>
          </a:xfrm>
          <a:prstGeom prst="rect">
            <a:avLst/>
          </a:prstGeom>
          <a:noFill/>
          <a:ln/>
        </p:spPr>
        <p:txBody>
          <a:bodyPr wrap="square" lIns="0" tIns="0" rIns="0" bIns="0" rtlCol="0" anchor="t"/>
          <a:lstStyle/>
          <a:p>
            <a:pPr indent="0" marL="0">
              <a:buNone/>
            </a:pPr>
            <a:r>
              <a:rPr lang="en-US" sz="1200" b="1" dirty="0">
                <a:solidFill>
                  <a:schemeClr val="tx1"/>
                </a:solidFill>
              </a:rPr>
              <a:t>Example 2. Classify the following foods as Mexican or Italian: Burrito, Pizza, Pasta, Quesadilla, Taco, Gelato</a:t>
            </a:r>
            <a:endParaRPr lang="en-US" sz="1200" dirty="0"/>
          </a:p>
        </p:txBody>
      </p:sp>
      <p:sp>
        <p:nvSpPr>
          <p:cNvPr id="4" name="Cell card 2-1"/>
          <p:cNvSpPr/>
          <p:nvPr/>
        </p:nvSpPr>
        <p:spPr>
          <a:xfrm>
            <a:off x="548640" y="1490472"/>
            <a:ext cx="2560320" cy="1234440"/>
          </a:xfrm>
          <a:prstGeom prst="roundRect">
            <a:avLst>
              <a:gd name="adj" fmla="val 8889"/>
            </a:avLst>
          </a:prstGeom>
          <a:solidFill>
            <a:schemeClr val="bg2"/>
          </a:solidFill>
          <a:ln/>
        </p:spPr>
      </p:sp>
      <p:sp>
        <p:nvSpPr>
          <p:cNvPr id="5" name="Cell label 2-1"/>
          <p:cNvSpPr txBox="1"/>
          <p:nvPr/>
        </p:nvSpPr>
        <p:spPr>
          <a:xfrm>
            <a:off x="685800" y="1554480"/>
            <a:ext cx="2286000" cy="256032"/>
          </a:xfrm>
          <a:prstGeom prst="rect">
            <a:avLst/>
          </a:prstGeom>
          <a:noFill/>
          <a:ln/>
        </p:spPr>
        <p:txBody>
          <a:bodyPr wrap="square" lIns="0" tIns="0" rIns="0" bIns="0" rtlCol="0" anchor="t"/>
          <a:lstStyle/>
          <a:p>
            <a:pPr indent="0" marL="0">
              <a:buNone/>
            </a:pPr>
            <a:r>
              <a:rPr lang="en-US" sz="1200" b="1" dirty="0">
                <a:solidFill>
                  <a:schemeClr val="accent2"/>
                </a:solidFill>
              </a:rPr>
              <a:t>REFERENCE</a:t>
            </a:r>
            <a:endParaRPr lang="en-US" sz="1200" dirty="0"/>
          </a:p>
        </p:txBody>
      </p:sp>
      <p:sp>
        <p:nvSpPr>
          <p:cNvPr id="6" name="Cell text 2-1"/>
          <p:cNvSpPr txBox="1"/>
          <p:nvPr/>
        </p:nvSpPr>
        <p:spPr>
          <a:xfrm>
            <a:off x="685800" y="1810512"/>
            <a:ext cx="2286000" cy="566928"/>
          </a:xfrm>
          <a:prstGeom prst="rect">
            <a:avLst/>
          </a:prstGeom>
          <a:noFill/>
          <a:ln/>
        </p:spPr>
        <p:txBody>
          <a:bodyPr wrap="square" lIns="0" tIns="0" rIns="0" bIns="0" rtlCol="0" anchor="t"/>
          <a:lstStyle/>
          <a:p>
            <a:pPr indent="0" marL="0">
              <a:buNone/>
            </a:pPr>
            <a:r>
              <a:rPr lang="en-US" sz="1100" dirty="0">
                <a:solidFill>
                  <a:schemeClr val="tx1"/>
                </a:solidFill>
              </a:rPr>
              <a:t>Burrito: Mexican, Pizza: Italian, Pasta: Italian, Quesadilla: Mexican, Taco: Mexican, Gelato: Italian</a:t>
            </a:r>
            <a:endParaRPr lang="en-US" sz="1100" dirty="0"/>
          </a:p>
        </p:txBody>
      </p:sp>
      <p:sp>
        <p:nvSpPr>
          <p:cNvPr id="7" name="Cell card 2-2"/>
          <p:cNvSpPr/>
          <p:nvPr/>
        </p:nvSpPr>
        <p:spPr>
          <a:xfrm>
            <a:off x="3291840" y="1490472"/>
            <a:ext cx="2560320" cy="1234440"/>
          </a:xfrm>
          <a:prstGeom prst="roundRect">
            <a:avLst>
              <a:gd name="adj" fmla="val 8889"/>
            </a:avLst>
          </a:prstGeom>
          <a:solidFill>
            <a:schemeClr val="bg2"/>
          </a:solidFill>
          <a:ln/>
        </p:spPr>
      </p:sp>
      <p:sp>
        <p:nvSpPr>
          <p:cNvPr id="8" name="Cell label 2-2"/>
          <p:cNvSpPr txBox="1"/>
          <p:nvPr/>
        </p:nvSpPr>
        <p:spPr>
          <a:xfrm>
            <a:off x="3429000" y="1554480"/>
            <a:ext cx="2286000" cy="256032"/>
          </a:xfrm>
          <a:prstGeom prst="rect">
            <a:avLst/>
          </a:prstGeom>
          <a:noFill/>
          <a:ln/>
        </p:spPr>
        <p:txBody>
          <a:bodyPr wrap="square" lIns="0" tIns="0" rIns="0" bIns="0" rtlCol="0" anchor="t"/>
          <a:lstStyle/>
          <a:p>
            <a:pPr indent="0" marL="0">
              <a:buNone/>
            </a:pPr>
            <a:r>
              <a:rPr lang="en-US" sz="1200" b="1" dirty="0">
                <a:solidFill>
                  <a:schemeClr val="accent5"/>
                </a:solidFill>
              </a:rPr>
              <a:t>BASE MODEL</a:t>
            </a:r>
            <a:endParaRPr lang="en-US" sz="1200" dirty="0"/>
          </a:p>
        </p:txBody>
      </p:sp>
      <p:sp>
        <p:nvSpPr>
          <p:cNvPr id="9" name="Cell text 2-2"/>
          <p:cNvSpPr txBox="1"/>
          <p:nvPr/>
        </p:nvSpPr>
        <p:spPr>
          <a:xfrm>
            <a:off x="3429000" y="1810512"/>
            <a:ext cx="2286000" cy="566928"/>
          </a:xfrm>
          <a:prstGeom prst="rect">
            <a:avLst/>
          </a:prstGeom>
          <a:noFill/>
          <a:ln/>
        </p:spPr>
        <p:txBody>
          <a:bodyPr wrap="square" lIns="0" tIns="0" rIns="0" bIns="0" rtlCol="0" anchor="t"/>
          <a:lstStyle/>
          <a:p>
            <a:pPr indent="0" marL="0">
              <a:buNone/>
            </a:pPr>
            <a:r>
              <a:rPr lang="en-US" sz="1100" dirty="0">
                <a:solidFill>
                  <a:schemeClr val="tx1"/>
                </a:solidFill>
              </a:rPr>
              <a:t>To classify the given foods as Mexican or Italian, we need to consider the typical ingredients and dishes…</a:t>
            </a:r>
            <a:endParaRPr lang="en-US" sz="1100" dirty="0"/>
          </a:p>
        </p:txBody>
      </p:sp>
      <p:sp>
        <p:nvSpPr>
          <p:cNvPr id="10" name="Cell note 2-2"/>
          <p:cNvSpPr txBox="1"/>
          <p:nvPr/>
        </p:nvSpPr>
        <p:spPr>
          <a:xfrm>
            <a:off x="3429000" y="2404872"/>
            <a:ext cx="2286000" cy="274320"/>
          </a:xfrm>
          <a:prstGeom prst="rect">
            <a:avLst/>
          </a:prstGeom>
          <a:noFill/>
          <a:ln/>
        </p:spPr>
        <p:txBody>
          <a:bodyPr wrap="square" lIns="0" tIns="0" rIns="0" bIns="0" rtlCol="0" anchor="t"/>
          <a:lstStyle/>
          <a:p>
            <a:pPr indent="0" marL="0">
              <a:buNone/>
            </a:pPr>
            <a:r>
              <a:rPr lang="en-US" sz="1100" b="1" i="1" dirty="0">
                <a:solidFill>
                  <a:schemeClr val="accent4"/>
                </a:solidFill>
              </a:rPr>
              <a:t>Long, ends mid-answer</a:t>
            </a:r>
            <a:endParaRPr lang="en-US" sz="1100" dirty="0"/>
          </a:p>
        </p:txBody>
      </p:sp>
      <p:sp>
        <p:nvSpPr>
          <p:cNvPr id="11" name="Cell card 2-3"/>
          <p:cNvSpPr/>
          <p:nvPr/>
        </p:nvSpPr>
        <p:spPr>
          <a:xfrm>
            <a:off x="6035040" y="1490472"/>
            <a:ext cx="2560320" cy="1234440"/>
          </a:xfrm>
          <a:prstGeom prst="roundRect">
            <a:avLst>
              <a:gd name="adj" fmla="val 8889"/>
            </a:avLst>
          </a:prstGeom>
          <a:solidFill>
            <a:schemeClr val="tx2"/>
          </a:solidFill>
          <a:ln/>
        </p:spPr>
      </p:sp>
      <p:sp>
        <p:nvSpPr>
          <p:cNvPr id="12" name="Cell label 2-3"/>
          <p:cNvSpPr txBox="1"/>
          <p:nvPr/>
        </p:nvSpPr>
        <p:spPr>
          <a:xfrm>
            <a:off x="6172200" y="1554480"/>
            <a:ext cx="2286000" cy="256032"/>
          </a:xfrm>
          <a:prstGeom prst="rect">
            <a:avLst/>
          </a:prstGeom>
          <a:noFill/>
          <a:ln/>
        </p:spPr>
        <p:txBody>
          <a:bodyPr wrap="square" lIns="0" tIns="0" rIns="0" bIns="0" rtlCol="0" anchor="t"/>
          <a:lstStyle/>
          <a:p>
            <a:pPr indent="0" marL="0">
              <a:buNone/>
            </a:pPr>
            <a:r>
              <a:rPr lang="en-US" sz="1200" b="1" dirty="0">
                <a:solidFill>
                  <a:schemeClr val="accent1"/>
                </a:solidFill>
              </a:rPr>
              <a:t>FINE-TUNED MODEL</a:t>
            </a:r>
            <a:endParaRPr lang="en-US" sz="1200" dirty="0"/>
          </a:p>
        </p:txBody>
      </p:sp>
      <p:sp>
        <p:nvSpPr>
          <p:cNvPr id="13" name="Cell text 2-3"/>
          <p:cNvSpPr txBox="1"/>
          <p:nvPr/>
        </p:nvSpPr>
        <p:spPr>
          <a:xfrm>
            <a:off x="6172200" y="1810512"/>
            <a:ext cx="2286000" cy="566928"/>
          </a:xfrm>
          <a:prstGeom prst="rect">
            <a:avLst/>
          </a:prstGeom>
          <a:noFill/>
          <a:ln/>
        </p:spPr>
        <p:txBody>
          <a:bodyPr wrap="square" lIns="0" tIns="0" rIns="0" bIns="0" rtlCol="0" anchor="t"/>
          <a:lstStyle/>
          <a:p>
            <a:pPr indent="0" marL="0">
              <a:buNone/>
            </a:pPr>
            <a:r>
              <a:rPr lang="en-US" sz="1100" dirty="0">
                <a:solidFill>
                  <a:schemeClr val="bg1"/>
                </a:solidFill>
              </a:rPr>
              <a:t>Burrito, Taco, Quesadilla, Gelato are Mexican foods. Pizza and Pasta are Italian foods.</a:t>
            </a:r>
            <a:endParaRPr lang="en-US" sz="1100" dirty="0"/>
          </a:p>
        </p:txBody>
      </p:sp>
      <p:sp>
        <p:nvSpPr>
          <p:cNvPr id="14" name="Cell note 2-3"/>
          <p:cNvSpPr txBox="1"/>
          <p:nvPr/>
        </p:nvSpPr>
        <p:spPr>
          <a:xfrm>
            <a:off x="6172200" y="2404872"/>
            <a:ext cx="2286000" cy="274320"/>
          </a:xfrm>
          <a:prstGeom prst="rect">
            <a:avLst/>
          </a:prstGeom>
          <a:noFill/>
          <a:ln/>
        </p:spPr>
        <p:txBody>
          <a:bodyPr wrap="square" lIns="0" tIns="0" rIns="0" bIns="0" rtlCol="0" anchor="t"/>
          <a:lstStyle/>
          <a:p>
            <a:pPr indent="0" marL="0">
              <a:buNone/>
            </a:pPr>
            <a:r>
              <a:rPr lang="en-US" sz="1100" b="1" i="1" dirty="0">
                <a:solidFill>
                  <a:schemeClr val="accent6"/>
                </a:solidFill>
              </a:rPr>
              <a:t>Gelato differs from reference</a:t>
            </a:r>
            <a:endParaRPr lang="en-US" sz="1100" dirty="0"/>
          </a:p>
        </p:txBody>
      </p:sp>
      <p:sp>
        <p:nvSpPr>
          <p:cNvPr id="15" name="Instruction 3"/>
          <p:cNvSpPr txBox="1"/>
          <p:nvPr/>
        </p:nvSpPr>
        <p:spPr>
          <a:xfrm>
            <a:off x="548640" y="2880360"/>
            <a:ext cx="8046720" cy="256032"/>
          </a:xfrm>
          <a:prstGeom prst="rect">
            <a:avLst/>
          </a:prstGeom>
          <a:noFill/>
          <a:ln/>
        </p:spPr>
        <p:txBody>
          <a:bodyPr wrap="square" lIns="0" tIns="0" rIns="0" bIns="0" rtlCol="0" anchor="t"/>
          <a:lstStyle/>
          <a:p>
            <a:pPr indent="0" marL="0">
              <a:buNone/>
            </a:pPr>
            <a:r>
              <a:rPr lang="en-US" sz="1200" b="1" dirty="0">
                <a:solidFill>
                  <a:schemeClr val="tx1"/>
                </a:solidFill>
              </a:rPr>
              <a:t>Example 3. Identify which animal species is alive or extinct: Stupendemys, Gray Whale</a:t>
            </a:r>
            <a:endParaRPr lang="en-US" sz="1200" dirty="0"/>
          </a:p>
        </p:txBody>
      </p:sp>
      <p:sp>
        <p:nvSpPr>
          <p:cNvPr id="16" name="Cell card 3-1"/>
          <p:cNvSpPr/>
          <p:nvPr/>
        </p:nvSpPr>
        <p:spPr>
          <a:xfrm>
            <a:off x="548640" y="3182112"/>
            <a:ext cx="2560320" cy="1234440"/>
          </a:xfrm>
          <a:prstGeom prst="roundRect">
            <a:avLst>
              <a:gd name="adj" fmla="val 8889"/>
            </a:avLst>
          </a:prstGeom>
          <a:solidFill>
            <a:schemeClr val="bg2"/>
          </a:solidFill>
          <a:ln/>
        </p:spPr>
      </p:sp>
      <p:sp>
        <p:nvSpPr>
          <p:cNvPr id="17" name="Cell label 3-1"/>
          <p:cNvSpPr txBox="1"/>
          <p:nvPr/>
        </p:nvSpPr>
        <p:spPr>
          <a:xfrm>
            <a:off x="685800" y="3246120"/>
            <a:ext cx="2286000" cy="256032"/>
          </a:xfrm>
          <a:prstGeom prst="rect">
            <a:avLst/>
          </a:prstGeom>
          <a:noFill/>
          <a:ln/>
        </p:spPr>
        <p:txBody>
          <a:bodyPr wrap="square" lIns="0" tIns="0" rIns="0" bIns="0" rtlCol="0" anchor="t"/>
          <a:lstStyle/>
          <a:p>
            <a:pPr indent="0" marL="0">
              <a:buNone/>
            </a:pPr>
            <a:r>
              <a:rPr lang="en-US" sz="1200" b="1" dirty="0">
                <a:solidFill>
                  <a:schemeClr val="accent2"/>
                </a:solidFill>
              </a:rPr>
              <a:t>REFERENCE</a:t>
            </a:r>
            <a:endParaRPr lang="en-US" sz="1200" dirty="0"/>
          </a:p>
        </p:txBody>
      </p:sp>
      <p:sp>
        <p:nvSpPr>
          <p:cNvPr id="18" name="Cell text 3-1"/>
          <p:cNvSpPr txBox="1"/>
          <p:nvPr/>
        </p:nvSpPr>
        <p:spPr>
          <a:xfrm>
            <a:off x="685800" y="3502152"/>
            <a:ext cx="2286000" cy="566928"/>
          </a:xfrm>
          <a:prstGeom prst="rect">
            <a:avLst/>
          </a:prstGeom>
          <a:noFill/>
          <a:ln/>
        </p:spPr>
        <p:txBody>
          <a:bodyPr wrap="square" lIns="0" tIns="0" rIns="0" bIns="0" rtlCol="0" anchor="t"/>
          <a:lstStyle/>
          <a:p>
            <a:pPr indent="0" marL="0">
              <a:buNone/>
            </a:pPr>
            <a:r>
              <a:rPr lang="en-US" sz="1100" dirty="0">
                <a:solidFill>
                  <a:schemeClr val="tx1"/>
                </a:solidFill>
              </a:rPr>
              <a:t>Gray Whale is alive, Stupendemys is extinct.</a:t>
            </a:r>
            <a:endParaRPr lang="en-US" sz="1100" dirty="0"/>
          </a:p>
        </p:txBody>
      </p:sp>
      <p:sp>
        <p:nvSpPr>
          <p:cNvPr id="19" name="Cell card 3-2"/>
          <p:cNvSpPr/>
          <p:nvPr/>
        </p:nvSpPr>
        <p:spPr>
          <a:xfrm>
            <a:off x="3291840" y="3182112"/>
            <a:ext cx="2560320" cy="1234440"/>
          </a:xfrm>
          <a:prstGeom prst="roundRect">
            <a:avLst>
              <a:gd name="adj" fmla="val 8889"/>
            </a:avLst>
          </a:prstGeom>
          <a:solidFill>
            <a:schemeClr val="bg2"/>
          </a:solidFill>
          <a:ln/>
        </p:spPr>
      </p:sp>
      <p:sp>
        <p:nvSpPr>
          <p:cNvPr id="20" name="Cell label 3-2"/>
          <p:cNvSpPr txBox="1"/>
          <p:nvPr/>
        </p:nvSpPr>
        <p:spPr>
          <a:xfrm>
            <a:off x="3429000" y="3246120"/>
            <a:ext cx="2286000" cy="256032"/>
          </a:xfrm>
          <a:prstGeom prst="rect">
            <a:avLst/>
          </a:prstGeom>
          <a:noFill/>
          <a:ln/>
        </p:spPr>
        <p:txBody>
          <a:bodyPr wrap="square" lIns="0" tIns="0" rIns="0" bIns="0" rtlCol="0" anchor="t"/>
          <a:lstStyle/>
          <a:p>
            <a:pPr indent="0" marL="0">
              <a:buNone/>
            </a:pPr>
            <a:r>
              <a:rPr lang="en-US" sz="1200" b="1" dirty="0">
                <a:solidFill>
                  <a:schemeClr val="accent5"/>
                </a:solidFill>
              </a:rPr>
              <a:t>BASE MODEL</a:t>
            </a:r>
            <a:endParaRPr lang="en-US" sz="1200" dirty="0"/>
          </a:p>
        </p:txBody>
      </p:sp>
      <p:sp>
        <p:nvSpPr>
          <p:cNvPr id="21" name="Cell text 3-2"/>
          <p:cNvSpPr txBox="1"/>
          <p:nvPr/>
        </p:nvSpPr>
        <p:spPr>
          <a:xfrm>
            <a:off x="3429000" y="3502152"/>
            <a:ext cx="2286000" cy="566928"/>
          </a:xfrm>
          <a:prstGeom prst="rect">
            <a:avLst/>
          </a:prstGeom>
          <a:noFill/>
          <a:ln/>
        </p:spPr>
        <p:txBody>
          <a:bodyPr wrap="square" lIns="0" tIns="0" rIns="0" bIns="0" rtlCol="0" anchor="t"/>
          <a:lstStyle/>
          <a:p>
            <a:pPr indent="0" marL="0">
              <a:buNone/>
            </a:pPr>
            <a:r>
              <a:rPr lang="en-US" sz="1100" dirty="0">
                <a:solidFill>
                  <a:schemeClr val="tx1"/>
                </a:solidFill>
              </a:rPr>
              <a:t>Long explanation of each species, ending with: Stupendemys: Extinct, Gray Whale: Alive</a:t>
            </a:r>
            <a:endParaRPr lang="en-US" sz="1100" dirty="0"/>
          </a:p>
        </p:txBody>
      </p:sp>
      <p:sp>
        <p:nvSpPr>
          <p:cNvPr id="22" name="Cell note 3-2"/>
          <p:cNvSpPr txBox="1"/>
          <p:nvPr/>
        </p:nvSpPr>
        <p:spPr>
          <a:xfrm>
            <a:off x="3429000" y="4096512"/>
            <a:ext cx="2286000" cy="274320"/>
          </a:xfrm>
          <a:prstGeom prst="rect">
            <a:avLst/>
          </a:prstGeom>
          <a:noFill/>
          <a:ln/>
        </p:spPr>
        <p:txBody>
          <a:bodyPr wrap="square" lIns="0" tIns="0" rIns="0" bIns="0" rtlCol="0" anchor="t"/>
          <a:lstStyle/>
          <a:p>
            <a:pPr indent="0" marL="0">
              <a:buNone/>
            </a:pPr>
            <a:r>
              <a:rPr lang="en-US" sz="1100" b="1" i="1" dirty="0">
                <a:solidFill>
                  <a:schemeClr val="accent4"/>
                </a:solidFill>
              </a:rPr>
              <a:t>Matches the reference, but verbose</a:t>
            </a:r>
            <a:endParaRPr lang="en-US" sz="1100" dirty="0"/>
          </a:p>
        </p:txBody>
      </p:sp>
      <p:sp>
        <p:nvSpPr>
          <p:cNvPr id="23" name="Cell card 3-3"/>
          <p:cNvSpPr/>
          <p:nvPr/>
        </p:nvSpPr>
        <p:spPr>
          <a:xfrm>
            <a:off x="6035040" y="3182112"/>
            <a:ext cx="2560320" cy="1234440"/>
          </a:xfrm>
          <a:prstGeom prst="roundRect">
            <a:avLst>
              <a:gd name="adj" fmla="val 8889"/>
            </a:avLst>
          </a:prstGeom>
          <a:solidFill>
            <a:schemeClr val="tx2"/>
          </a:solidFill>
          <a:ln/>
        </p:spPr>
      </p:sp>
      <p:sp>
        <p:nvSpPr>
          <p:cNvPr id="24" name="Cell label 3-3"/>
          <p:cNvSpPr txBox="1"/>
          <p:nvPr/>
        </p:nvSpPr>
        <p:spPr>
          <a:xfrm>
            <a:off x="6172200" y="3246120"/>
            <a:ext cx="2286000" cy="256032"/>
          </a:xfrm>
          <a:prstGeom prst="rect">
            <a:avLst/>
          </a:prstGeom>
          <a:noFill/>
          <a:ln/>
        </p:spPr>
        <p:txBody>
          <a:bodyPr wrap="square" lIns="0" tIns="0" rIns="0" bIns="0" rtlCol="0" anchor="t"/>
          <a:lstStyle/>
          <a:p>
            <a:pPr indent="0" marL="0">
              <a:buNone/>
            </a:pPr>
            <a:r>
              <a:rPr lang="en-US" sz="1200" b="1" dirty="0">
                <a:solidFill>
                  <a:schemeClr val="accent1"/>
                </a:solidFill>
              </a:rPr>
              <a:t>FINE-TUNED MODEL</a:t>
            </a:r>
            <a:endParaRPr lang="en-US" sz="1200" dirty="0"/>
          </a:p>
        </p:txBody>
      </p:sp>
      <p:sp>
        <p:nvSpPr>
          <p:cNvPr id="25" name="Cell text 3-3"/>
          <p:cNvSpPr txBox="1"/>
          <p:nvPr/>
        </p:nvSpPr>
        <p:spPr>
          <a:xfrm>
            <a:off x="6172200" y="3502152"/>
            <a:ext cx="2286000" cy="566928"/>
          </a:xfrm>
          <a:prstGeom prst="rect">
            <a:avLst/>
          </a:prstGeom>
          <a:noFill/>
          <a:ln/>
        </p:spPr>
        <p:txBody>
          <a:bodyPr wrap="square" lIns="0" tIns="0" rIns="0" bIns="0" rtlCol="0" anchor="t"/>
          <a:lstStyle/>
          <a:p>
            <a:pPr indent="0" marL="0">
              <a:buNone/>
            </a:pPr>
            <a:r>
              <a:rPr lang="en-US" sz="1100" dirty="0">
                <a:solidFill>
                  <a:schemeClr val="bg1"/>
                </a:solidFill>
              </a:rPr>
              <a:t>Stupendemys is extinct, Gray Whale is alive.</a:t>
            </a:r>
            <a:endParaRPr lang="en-US" sz="1100" dirty="0"/>
          </a:p>
        </p:txBody>
      </p:sp>
      <p:sp>
        <p:nvSpPr>
          <p:cNvPr id="26" name="Cell note 3-3"/>
          <p:cNvSpPr txBox="1"/>
          <p:nvPr/>
        </p:nvSpPr>
        <p:spPr>
          <a:xfrm>
            <a:off x="6172200" y="4096512"/>
            <a:ext cx="2286000" cy="274320"/>
          </a:xfrm>
          <a:prstGeom prst="rect">
            <a:avLst/>
          </a:prstGeom>
          <a:noFill/>
          <a:ln/>
        </p:spPr>
        <p:txBody>
          <a:bodyPr wrap="square" lIns="0" tIns="0" rIns="0" bIns="0" rtlCol="0" anchor="t"/>
          <a:lstStyle/>
          <a:p>
            <a:pPr indent="0" marL="0">
              <a:buNone/>
            </a:pPr>
            <a:r>
              <a:rPr lang="en-US" sz="1100" b="1" i="1" dirty="0">
                <a:solidFill>
                  <a:schemeClr val="accent6"/>
                </a:solidFill>
              </a:rPr>
              <a:t>Short and matches the reference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tx1"/>
                </a:solidFill>
              </a:rPr>
              <a:t>What worked, what did not</a:t>
            </a:r>
            <a:endParaRPr lang="en-US" sz="3600" dirty="0"/>
          </a:p>
        </p:txBody>
      </p:sp>
      <p:sp>
        <p:nvSpPr>
          <p:cNvPr id="3" name="Column card 1"/>
          <p:cNvSpPr/>
          <p:nvPr/>
        </p:nvSpPr>
        <p:spPr>
          <a:xfrm>
            <a:off x="548640" y="1280160"/>
            <a:ext cx="2560320" cy="3246120"/>
          </a:xfrm>
          <a:prstGeom prst="roundRect">
            <a:avLst>
              <a:gd name="adj" fmla="val 4286"/>
            </a:avLst>
          </a:prstGeom>
          <a:solidFill>
            <a:schemeClr val="bg2"/>
          </a:solidFill>
          <a:ln/>
        </p:spPr>
      </p:sp>
      <p:pic>
        <p:nvPicPr>
          <p:cNvPr id="4" name="Worked icon" descr="Worked">    </p:cNvPr>
          <p:cNvPicPr>
            <a:picLocks noChangeAspect="1"/>
          </p:cNvPicPr>
          <p:nvPr/>
        </p:nvPicPr>
        <p:blipFill>
          <a:blip r:embed="rId1"/>
          <a:stretch>
            <a:fillRect/>
          </a:stretch>
        </p:blipFill>
        <p:spPr>
          <a:xfrm>
            <a:off x="731520" y="1417320"/>
            <a:ext cx="347472" cy="347472"/>
          </a:xfrm>
          <a:prstGeom prst="rect">
            <a:avLst/>
          </a:prstGeom>
        </p:spPr>
      </p:pic>
      <p:sp>
        <p:nvSpPr>
          <p:cNvPr id="5" name="Worked title"/>
          <p:cNvSpPr txBox="1"/>
          <p:nvPr/>
        </p:nvSpPr>
        <p:spPr>
          <a:xfrm>
            <a:off x="1188720" y="1417320"/>
            <a:ext cx="1737360" cy="347472"/>
          </a:xfrm>
          <a:prstGeom prst="rect">
            <a:avLst/>
          </a:prstGeom>
          <a:noFill/>
          <a:ln/>
        </p:spPr>
        <p:txBody>
          <a:bodyPr wrap="square" lIns="0" tIns="0" rIns="0" bIns="0" rtlCol="0" anchor="ctr"/>
          <a:lstStyle/>
          <a:p>
            <a:pPr indent="0" marL="0">
              <a:buNone/>
            </a:pPr>
            <a:r>
              <a:rPr lang="en-US" sz="1800" b="1" dirty="0">
                <a:solidFill>
                  <a:schemeClr val="tx1"/>
                </a:solidFill>
              </a:rPr>
              <a:t>Worked</a:t>
            </a:r>
            <a:endParaRPr lang="en-US" sz="1800" dirty="0"/>
          </a:p>
        </p:txBody>
      </p:sp>
      <p:sp>
        <p:nvSpPr>
          <p:cNvPr id="6" name="Worked bullets"/>
          <p:cNvSpPr txBox="1"/>
          <p:nvPr/>
        </p:nvSpPr>
        <p:spPr>
          <a:xfrm>
            <a:off x="731520" y="1920240"/>
            <a:ext cx="2194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Training finished on one T4 in about 11 minutes</a:t>
            </a:r>
            <a:endParaRPr lang="en-US" sz="1300" dirty="0"/>
          </a:p>
          <a:p>
            <a:pPr marL="342900" indent="-342900">
              <a:spcAft>
                <a:spcPts val="600"/>
              </a:spcAft>
              <a:buSzPct val="100000"/>
              <a:buChar char="•"/>
            </a:pPr>
            <a:r>
              <a:rPr lang="en-US" sz="1300" dirty="0">
                <a:solidFill>
                  <a:schemeClr val="tx1"/>
                </a:solidFill>
              </a:rPr>
              <a:t>Validation loss fell at each checkpoint (small)</a:t>
            </a:r>
            <a:endParaRPr lang="en-US" sz="1300" dirty="0"/>
          </a:p>
          <a:p>
            <a:pPr marL="342900" indent="-342900">
              <a:spcAft>
                <a:spcPts val="600"/>
              </a:spcAft>
              <a:buSzPct val="100000"/>
              <a:buChar char="•"/>
            </a:pPr>
            <a:r>
              <a:rPr lang="en-US" sz="1300" dirty="0">
                <a:solidFill>
                  <a:schemeClr val="tx1"/>
                </a:solidFill>
              </a:rPr>
              <a:t>Test loss and perplexity were lower (preliminary)</a:t>
            </a:r>
            <a:endParaRPr lang="en-US" sz="1300" dirty="0"/>
          </a:p>
          <a:p>
            <a:pPr marL="342900" indent="-342900">
              <a:spcAft>
                <a:spcPts val="600"/>
              </a:spcAft>
              <a:buSzPct val="100000"/>
              <a:buChar char="•"/>
            </a:pPr>
            <a:r>
              <a:rPr lang="en-US" sz="1300" dirty="0">
                <a:solidFill>
                  <a:schemeClr val="tx1"/>
                </a:solidFill>
              </a:rPr>
              <a:t>Short, direct answers in Examples 2 and 3</a:t>
            </a:r>
            <a:endParaRPr lang="en-US" sz="1300" dirty="0"/>
          </a:p>
        </p:txBody>
      </p:sp>
      <p:sp>
        <p:nvSpPr>
          <p:cNvPr id="7" name="Column card 2"/>
          <p:cNvSpPr/>
          <p:nvPr/>
        </p:nvSpPr>
        <p:spPr>
          <a:xfrm>
            <a:off x="3291840" y="1280160"/>
            <a:ext cx="2560320" cy="3246120"/>
          </a:xfrm>
          <a:prstGeom prst="roundRect">
            <a:avLst>
              <a:gd name="adj" fmla="val 4286"/>
            </a:avLst>
          </a:prstGeom>
          <a:solidFill>
            <a:schemeClr val="bg2"/>
          </a:solidFill>
          <a:ln/>
        </p:spPr>
      </p:sp>
      <p:pic>
        <p:nvPicPr>
          <p:cNvPr id="8" name="Limitations icon" descr="Limitations">    </p:cNvPr>
          <p:cNvPicPr>
            <a:picLocks noChangeAspect="1"/>
          </p:cNvPicPr>
          <p:nvPr/>
        </p:nvPicPr>
        <p:blipFill>
          <a:blip r:embed="rId2"/>
          <a:stretch>
            <a:fillRect/>
          </a:stretch>
        </p:blipFill>
        <p:spPr>
          <a:xfrm>
            <a:off x="3474720" y="1417320"/>
            <a:ext cx="347472" cy="347472"/>
          </a:xfrm>
          <a:prstGeom prst="rect">
            <a:avLst/>
          </a:prstGeom>
        </p:spPr>
      </p:pic>
      <p:sp>
        <p:nvSpPr>
          <p:cNvPr id="9" name="Limitations title"/>
          <p:cNvSpPr txBox="1"/>
          <p:nvPr/>
        </p:nvSpPr>
        <p:spPr>
          <a:xfrm>
            <a:off x="3931920" y="1417320"/>
            <a:ext cx="1737360" cy="347472"/>
          </a:xfrm>
          <a:prstGeom prst="rect">
            <a:avLst/>
          </a:prstGeom>
          <a:noFill/>
          <a:ln/>
        </p:spPr>
        <p:txBody>
          <a:bodyPr wrap="square" lIns="0" tIns="0" rIns="0" bIns="0" rtlCol="0" anchor="ctr"/>
          <a:lstStyle/>
          <a:p>
            <a:pPr indent="0" marL="0">
              <a:buNone/>
            </a:pPr>
            <a:r>
              <a:rPr lang="en-US" sz="1800" b="1" dirty="0">
                <a:solidFill>
                  <a:schemeClr val="tx1"/>
                </a:solidFill>
              </a:rPr>
              <a:t>Limitations</a:t>
            </a:r>
            <a:endParaRPr lang="en-US" sz="1800" dirty="0"/>
          </a:p>
        </p:txBody>
      </p:sp>
      <p:sp>
        <p:nvSpPr>
          <p:cNvPr id="10" name="Limitations bullets"/>
          <p:cNvSpPr txBox="1"/>
          <p:nvPr/>
        </p:nvSpPr>
        <p:spPr>
          <a:xfrm>
            <a:off x="3474720" y="1920240"/>
            <a:ext cx="2194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Metric gains are small, from one run</a:t>
            </a:r>
            <a:endParaRPr lang="en-US" sz="1300" dirty="0"/>
          </a:p>
          <a:p>
            <a:pPr marL="342900" indent="-342900">
              <a:spcAft>
                <a:spcPts val="600"/>
              </a:spcAft>
              <a:buSzPct val="100000"/>
              <a:buChar char="•"/>
            </a:pPr>
            <a:r>
              <a:rPr lang="en-US" sz="1300" dirty="0">
                <a:solidFill>
                  <a:schemeClr val="tx1"/>
                </a:solidFill>
              </a:rPr>
              <a:t>Wrong facts and repetition remain (Examples 1, 4 and 5)</a:t>
            </a:r>
            <a:endParaRPr lang="en-US" sz="1300" dirty="0"/>
          </a:p>
          <a:p>
            <a:pPr marL="342900" indent="-342900">
              <a:spcAft>
                <a:spcPts val="600"/>
              </a:spcAft>
              <a:buSzPct val="100000"/>
              <a:buChar char="•"/>
            </a:pPr>
            <a:r>
              <a:rPr lang="en-US" sz="1300" dirty="0">
                <a:solidFill>
                  <a:schemeClr val="tx1"/>
                </a:solidFill>
              </a:rPr>
              <a:t>Generation prompt template differs from the training format</a:t>
            </a:r>
            <a:endParaRPr lang="en-US" sz="1300" dirty="0"/>
          </a:p>
          <a:p>
            <a:pPr marL="342900" indent="-342900">
              <a:spcAft>
                <a:spcPts val="600"/>
              </a:spcAft>
              <a:buSzPct val="100000"/>
              <a:buChar char="•"/>
            </a:pPr>
            <a:r>
              <a:rPr lang="en-US" sz="1300" dirty="0">
                <a:solidFill>
                  <a:schemeClr val="tx1"/>
                </a:solidFill>
              </a:rPr>
              <a:t>No accuracy check, only loss and 5 printed examples</a:t>
            </a:r>
            <a:endParaRPr lang="en-US" sz="1300" dirty="0"/>
          </a:p>
        </p:txBody>
      </p:sp>
      <p:sp>
        <p:nvSpPr>
          <p:cNvPr id="11" name="Column card 3"/>
          <p:cNvSpPr/>
          <p:nvPr/>
        </p:nvSpPr>
        <p:spPr>
          <a:xfrm>
            <a:off x="6035040" y="1280160"/>
            <a:ext cx="2560320" cy="3246120"/>
          </a:xfrm>
          <a:prstGeom prst="roundRect">
            <a:avLst>
              <a:gd name="adj" fmla="val 4286"/>
            </a:avLst>
          </a:prstGeom>
          <a:solidFill>
            <a:schemeClr val="bg2"/>
          </a:solidFill>
          <a:ln/>
        </p:spPr>
      </p:sp>
      <p:pic>
        <p:nvPicPr>
          <p:cNvPr id="12" name="Learnings icon" descr="Learnings">    </p:cNvPr>
          <p:cNvPicPr>
            <a:picLocks noChangeAspect="1"/>
          </p:cNvPicPr>
          <p:nvPr/>
        </p:nvPicPr>
        <p:blipFill>
          <a:blip r:embed="rId3"/>
          <a:stretch>
            <a:fillRect/>
          </a:stretch>
        </p:blipFill>
        <p:spPr>
          <a:xfrm>
            <a:off x="6217920" y="1417320"/>
            <a:ext cx="347472" cy="347472"/>
          </a:xfrm>
          <a:prstGeom prst="rect">
            <a:avLst/>
          </a:prstGeom>
        </p:spPr>
      </p:pic>
      <p:sp>
        <p:nvSpPr>
          <p:cNvPr id="13" name="Learnings title"/>
          <p:cNvSpPr txBox="1"/>
          <p:nvPr/>
        </p:nvSpPr>
        <p:spPr>
          <a:xfrm>
            <a:off x="6675120" y="1417320"/>
            <a:ext cx="1737360" cy="347472"/>
          </a:xfrm>
          <a:prstGeom prst="rect">
            <a:avLst/>
          </a:prstGeom>
          <a:noFill/>
          <a:ln/>
        </p:spPr>
        <p:txBody>
          <a:bodyPr wrap="square" lIns="0" tIns="0" rIns="0" bIns="0" rtlCol="0" anchor="ctr"/>
          <a:lstStyle/>
          <a:p>
            <a:pPr indent="0" marL="0">
              <a:buNone/>
            </a:pPr>
            <a:r>
              <a:rPr lang="en-US" sz="1800" b="1" dirty="0">
                <a:solidFill>
                  <a:schemeClr val="tx1"/>
                </a:solidFill>
              </a:rPr>
              <a:t>Learnings</a:t>
            </a:r>
            <a:endParaRPr lang="en-US" sz="1800" dirty="0"/>
          </a:p>
        </p:txBody>
      </p:sp>
      <p:sp>
        <p:nvSpPr>
          <p:cNvPr id="14" name="Learnings bullets"/>
          <p:cNvSpPr txBox="1"/>
          <p:nvPr/>
        </p:nvSpPr>
        <p:spPr>
          <a:xfrm>
            <a:off x="6217920" y="1920240"/>
            <a:ext cx="2194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Lower loss does not prove better answers</a:t>
            </a:r>
            <a:endParaRPr lang="en-US" sz="1300" dirty="0"/>
          </a:p>
          <a:p>
            <a:pPr marL="342900" indent="-342900">
              <a:spcAft>
                <a:spcPts val="600"/>
              </a:spcAft>
              <a:buSzPct val="100000"/>
              <a:buChar char="•"/>
            </a:pPr>
            <a:r>
              <a:rPr lang="en-US" sz="1300" dirty="0">
                <a:solidFill>
                  <a:schemeClr val="tx1"/>
                </a:solidFill>
              </a:rPr>
              <a:t>Style changed more than facts in these examples</a:t>
            </a:r>
            <a:endParaRPr lang="en-US" sz="1300" dirty="0"/>
          </a:p>
          <a:p>
            <a:pPr marL="342900" indent="-342900">
              <a:spcAft>
                <a:spcPts val="600"/>
              </a:spcAft>
              <a:buSzPct val="100000"/>
              <a:buChar char="•"/>
            </a:pPr>
            <a:r>
              <a:rPr lang="en-US" sz="1300" dirty="0">
                <a:solidFill>
                  <a:schemeClr val="tx1"/>
                </a:solidFill>
              </a:rPr>
              <a:t>Match the prompt format between training and testing</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3600" b="1" dirty="0">
                <a:solidFill>
                  <a:schemeClr val="bg1"/>
                </a:solidFill>
              </a:rPr>
              <a:t>Conclusion and next steps</a:t>
            </a:r>
            <a:endParaRPr lang="en-US" sz="3600" dirty="0"/>
          </a:p>
        </p:txBody>
      </p:sp>
      <p:sp>
        <p:nvSpPr>
          <p:cNvPr id="3" name="Conclusion card"/>
          <p:cNvSpPr/>
          <p:nvPr/>
        </p:nvSpPr>
        <p:spPr>
          <a:xfrm>
            <a:off x="548640" y="1280160"/>
            <a:ext cx="3840480" cy="3200400"/>
          </a:xfrm>
          <a:prstGeom prst="roundRect">
            <a:avLst>
              <a:gd name="adj" fmla="val 3429"/>
            </a:avLst>
          </a:prstGeom>
          <a:solidFill>
            <a:schemeClr val="accent2"/>
          </a:solidFill>
          <a:ln/>
        </p:spPr>
      </p:sp>
      <p:sp>
        <p:nvSpPr>
          <p:cNvPr id="4" name="Conclusion label"/>
          <p:cNvSpPr txBox="1"/>
          <p:nvPr/>
        </p:nvSpPr>
        <p:spPr>
          <a:xfrm>
            <a:off x="777240" y="1444752"/>
            <a:ext cx="3383280" cy="256032"/>
          </a:xfrm>
          <a:prstGeom prst="rect">
            <a:avLst/>
          </a:prstGeom>
          <a:noFill/>
          <a:ln/>
        </p:spPr>
        <p:txBody>
          <a:bodyPr wrap="square" lIns="0" tIns="0" rIns="0" bIns="0" rtlCol="0" anchor="t"/>
          <a:lstStyle/>
          <a:p>
            <a:pPr indent="0" marL="0">
              <a:buNone/>
            </a:pPr>
            <a:r>
              <a:rPr lang="en-US" sz="1200" b="1" dirty="0">
                <a:solidFill>
                  <a:schemeClr val="accent6"/>
                </a:solidFill>
              </a:rPr>
              <a:t>CONCLUSION</a:t>
            </a:r>
            <a:endParaRPr lang="en-US" sz="1200" dirty="0"/>
          </a:p>
        </p:txBody>
      </p:sp>
      <p:sp>
        <p:nvSpPr>
          <p:cNvPr id="5" name="Conclusion text"/>
          <p:cNvSpPr txBox="1"/>
          <p:nvPr/>
        </p:nvSpPr>
        <p:spPr>
          <a:xfrm>
            <a:off x="777240" y="1783080"/>
            <a:ext cx="3383280" cy="2606040"/>
          </a:xfrm>
          <a:prstGeom prst="rect">
            <a:avLst/>
          </a:prstGeom>
          <a:noFill/>
          <a:ln/>
        </p:spPr>
        <p:txBody>
          <a:bodyPr wrap="square" lIns="0" tIns="0" rIns="0" bIns="0" rtlCol="0" anchor="t"/>
          <a:lstStyle/>
          <a:p>
            <a:pPr indent="0" marL="0">
              <a:buNone/>
            </a:pPr>
            <a:r>
              <a:rPr lang="en-US" sz="1600" dirty="0">
                <a:solidFill>
                  <a:schemeClr val="bg1"/>
                </a:solidFill>
              </a:rPr>
              <a:t>One LoRA run on 800 Dolly examples lowered test loss slightly and made answers shorter on simple tasks. It did not fix wrong facts or repetition in the examples we saw. The metrics are preliminary.</a:t>
            </a:r>
            <a:endParaRPr lang="en-US" sz="1600" dirty="0"/>
          </a:p>
        </p:txBody>
      </p:sp>
      <p:sp>
        <p:nvSpPr>
          <p:cNvPr id="6" name="Next label"/>
          <p:cNvSpPr txBox="1"/>
          <p:nvPr/>
        </p:nvSpPr>
        <p:spPr>
          <a:xfrm>
            <a:off x="4663440" y="1280160"/>
            <a:ext cx="3931920" cy="256032"/>
          </a:xfrm>
          <a:prstGeom prst="rect">
            <a:avLst/>
          </a:prstGeom>
          <a:noFill/>
          <a:ln/>
        </p:spPr>
        <p:txBody>
          <a:bodyPr wrap="square" lIns="0" tIns="0" rIns="0" bIns="0" rtlCol="0" anchor="t"/>
          <a:lstStyle/>
          <a:p>
            <a:pPr indent="0" marL="0">
              <a:buNone/>
            </a:pPr>
            <a:r>
              <a:rPr lang="en-US" sz="1200" b="1" dirty="0">
                <a:solidFill>
                  <a:schemeClr val="accent1"/>
                </a:solidFill>
              </a:rPr>
              <a:t>NEXT STEPS (PLANNED, NOT DONE)</a:t>
            </a:r>
            <a:endParaRPr lang="en-US" sz="1200" dirty="0"/>
          </a:p>
        </p:txBody>
      </p:sp>
      <p:sp>
        <p:nvSpPr>
          <p:cNvPr id="7" name="Next number 1"/>
          <p:cNvSpPr/>
          <p:nvPr/>
        </p:nvSpPr>
        <p:spPr>
          <a:xfrm>
            <a:off x="4663440" y="1719072"/>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8" name="Next text 1"/>
          <p:cNvSpPr txBox="1"/>
          <p:nvPr/>
        </p:nvSpPr>
        <p:spPr>
          <a:xfrm>
            <a:off x="5257800" y="1645920"/>
            <a:ext cx="3337560" cy="685800"/>
          </a:xfrm>
          <a:prstGeom prst="rect">
            <a:avLst/>
          </a:prstGeom>
          <a:noFill/>
          <a:ln/>
        </p:spPr>
        <p:txBody>
          <a:bodyPr wrap="square" lIns="0" tIns="0" rIns="0" bIns="0" rtlCol="0" anchor="ctr"/>
          <a:lstStyle/>
          <a:p>
            <a:pPr indent="0" marL="0">
              <a:buNone/>
            </a:pPr>
            <a:r>
              <a:rPr lang="en-US" sz="1300" dirty="0">
                <a:solidFill>
                  <a:schemeClr val="bg1"/>
                </a:solidFill>
              </a:rPr>
              <a:t>Check token alignment: rerun the evaluation on the validation set and compare it with the logged 1.8312</a:t>
            </a:r>
            <a:endParaRPr lang="en-US" sz="1300" dirty="0"/>
          </a:p>
        </p:txBody>
      </p:sp>
      <p:sp>
        <p:nvSpPr>
          <p:cNvPr id="9" name="Next number 2"/>
          <p:cNvSpPr/>
          <p:nvPr/>
        </p:nvSpPr>
        <p:spPr>
          <a:xfrm>
            <a:off x="4663440" y="2450592"/>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0" name="Next text 2"/>
          <p:cNvSpPr txBox="1"/>
          <p:nvPr/>
        </p:nvSpPr>
        <p:spPr>
          <a:xfrm>
            <a:off x="5257800" y="2377440"/>
            <a:ext cx="3337560" cy="685800"/>
          </a:xfrm>
          <a:prstGeom prst="rect">
            <a:avLst/>
          </a:prstGeom>
          <a:noFill/>
          <a:ln/>
        </p:spPr>
        <p:txBody>
          <a:bodyPr wrap="square" lIns="0" tIns="0" rIns="0" bIns="0" rtlCol="0" anchor="ctr"/>
          <a:lstStyle/>
          <a:p>
            <a:pPr indent="0" marL="0">
              <a:buNone/>
            </a:pPr>
            <a:r>
              <a:rPr lang="en-US" sz="1300" dirty="0">
                <a:solidFill>
                  <a:schemeClr val="bg1"/>
                </a:solidFill>
              </a:rPr>
              <a:t>Use the training prompt format when generating</a:t>
            </a:r>
            <a:endParaRPr lang="en-US" sz="1300" dirty="0"/>
          </a:p>
        </p:txBody>
      </p:sp>
      <p:sp>
        <p:nvSpPr>
          <p:cNvPr id="11" name="Next number 3"/>
          <p:cNvSpPr/>
          <p:nvPr/>
        </p:nvSpPr>
        <p:spPr>
          <a:xfrm>
            <a:off x="4663440" y="3182112"/>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2" name="Next text 3"/>
          <p:cNvSpPr txBox="1"/>
          <p:nvPr/>
        </p:nvSpPr>
        <p:spPr>
          <a:xfrm>
            <a:off x="5257800" y="3108960"/>
            <a:ext cx="3337560" cy="685800"/>
          </a:xfrm>
          <a:prstGeom prst="rect">
            <a:avLst/>
          </a:prstGeom>
          <a:noFill/>
          <a:ln/>
        </p:spPr>
        <p:txBody>
          <a:bodyPr wrap="square" lIns="0" tIns="0" rIns="0" bIns="0" rtlCol="0" anchor="ctr"/>
          <a:lstStyle/>
          <a:p>
            <a:pPr indent="0" marL="0">
              <a:buNone/>
            </a:pPr>
            <a:r>
              <a:rPr lang="en-US" sz="1300" dirty="0">
                <a:solidFill>
                  <a:schemeClr val="bg1"/>
                </a:solidFill>
              </a:rPr>
              <a:t>Test on more examples, with human or rubric scoring</a:t>
            </a:r>
            <a:endParaRPr lang="en-US" sz="1300" dirty="0"/>
          </a:p>
        </p:txBody>
      </p:sp>
      <p:sp>
        <p:nvSpPr>
          <p:cNvPr id="13" name="Next number 4"/>
          <p:cNvSpPr/>
          <p:nvPr/>
        </p:nvSpPr>
        <p:spPr>
          <a:xfrm>
            <a:off x="4663440" y="3913632"/>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4" name="Next text 4"/>
          <p:cNvSpPr txBox="1"/>
          <p:nvPr/>
        </p:nvSpPr>
        <p:spPr>
          <a:xfrm>
            <a:off x="5257800" y="3840480"/>
            <a:ext cx="3337560" cy="685800"/>
          </a:xfrm>
          <a:prstGeom prst="rect">
            <a:avLst/>
          </a:prstGeom>
          <a:noFill/>
          <a:ln/>
        </p:spPr>
        <p:txBody>
          <a:bodyPr wrap="square" lIns="0" tIns="0" rIns="0" bIns="0" rtlCol="0" anchor="ctr"/>
          <a:lstStyle/>
          <a:p>
            <a:pPr indent="0" marL="0">
              <a:buNone/>
            </a:pPr>
            <a:r>
              <a:rPr lang="en-US" sz="1300" dirty="0">
                <a:solidFill>
                  <a:schemeClr val="bg1"/>
                </a:solidFill>
              </a:rPr>
              <a:t>Change one setting at a time: data size, epochs, LoRA rank</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ynthetic Green">
  <a:themeElements>
    <a:clrScheme name="Synthetic Green">
      <a:dk1>
        <a:srgbClr val="1A1D1F"/>
      </a:dk1>
      <a:lt1>
        <a:srgbClr val="FFFFFF"/>
      </a:lt1>
      <a:dk2>
        <a:srgbClr val="14211A"/>
      </a:dk2>
      <a:lt2>
        <a:srgbClr val="F0F5E8"/>
      </a:lt2>
      <a:accent1>
        <a:srgbClr val="76B900"/>
      </a:accent1>
      <a:accent2>
        <a:srgbClr val="3E6B00"/>
      </a:accent2>
      <a:accent3>
        <a:srgbClr val="0F766E"/>
      </a:accent3>
      <a:accent4>
        <a:srgbClr val="D97706"/>
      </a:accent4>
      <a:accent5>
        <a:srgbClr val="5F6B66"/>
      </a:accent5>
      <a:accent6>
        <a:srgbClr val="A3D63F"/>
      </a:accent6>
      <a:hlink>
        <a:srgbClr val="3E6B00"/>
      </a:hlink>
      <a:folHlink>
        <a:srgbClr val="5F6B66"/>
      </a:folHlink>
    </a:clrScheme>
    <a:fontScheme name="Synthetic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fine-tuning results: Qwen3-1.7B on Dolly</dc:title>
  <dc:subject>PptxGenJS Presentation</dc:subject>
  <dc:creator>PptxGenJS</dc:creator>
  <cp:lastModifiedBy>PptxGenJS</cp:lastModifiedBy>
  <cp:revision>1</cp:revision>
  <dcterms:created xsi:type="dcterms:W3CDTF">2026-10-24T07:50:03Z</dcterms:created>
  <dcterms:modified xsi:type="dcterms:W3CDTF">2026-10-24T07:50:03Z</dcterms:modified>
</cp:coreProperties>
</file>