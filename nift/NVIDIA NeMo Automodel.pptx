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Inter" panose="020B0604020202020204" charset="0"/>
      <p:regular r:id="rId13"/>
      <p:bold r:id="rId14"/>
      <p:italic r:id="rId15"/>
      <p:boldItalic r:id="rId16"/>
    </p:embeddedFont>
    <p:embeddedFont>
      <p:font typeface="JetBrains Mono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5676900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09600" y="5676900"/>
            <a:ext cx="10972800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609600" y="609600"/>
            <a:ext cx="647700" cy="247650"/>
          </a:xfrm>
          <a:prstGeom prst="roundRect">
            <a:avLst>
              <a:gd name="adj" fmla="val 15384"/>
            </a:avLst>
          </a:prstGeom>
          <a:solidFill>
            <a:srgbClr val="76B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0668000" y="647700"/>
            <a:ext cx="12001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OCTOBER 2026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09600" y="2164109"/>
            <a:ext cx="115824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76B900"/>
                </a:solidFill>
                <a:latin typeface="Inter"/>
                <a:ea typeface="Inter"/>
                <a:cs typeface="Inter"/>
                <a:sym typeface="Inter"/>
              </a:rPr>
              <a:t>TECHNICAL ARCHITECTURE &amp; NOTEBOOK IMPLEMENTATION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09600" y="2468909"/>
            <a:ext cx="9101137" cy="69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NVIDIA NeMo AutoModel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609600" y="3798540"/>
            <a:ext cx="6953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End-to-end domain-adaptive continued pretraining from pharmaceutical PDFs on Google Colab T4.</a:t>
            </a:r>
            <a:endParaRPr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609600" y="5915025"/>
            <a:ext cx="200977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Framework </a:t>
            </a:r>
            <a:r>
              <a:rPr lang="en-US" sz="1050" b="1" i="0" u="none" strike="noStrike" cap="none" dirty="0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PyTorch-Native / NeMo 0.6.0</a:t>
            </a:r>
            <a:endParaRPr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2828925" y="5915025"/>
            <a:ext cx="185737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Target Hardware </a:t>
            </a:r>
            <a:r>
              <a:rPr lang="en-US" sz="1050" b="1" i="0" u="none" strike="noStrike" cap="none" dirty="0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Single T4 GPU (Colab Free)</a:t>
            </a:r>
            <a:endParaRPr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4895850" y="5915025"/>
            <a:ext cx="29432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Case Study </a:t>
            </a:r>
            <a:r>
              <a:rPr lang="en-US" sz="1050" b="1" i="0" u="none" strike="noStrike" cap="non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Pharma PDF Causal Next-Token Adaptation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704850" y="647700"/>
            <a:ext cx="5524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NVIDIA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371600" y="652462"/>
            <a:ext cx="202406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NeMo Ecosystem Update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/>
          <p:nvPr/>
        </p:nvSpPr>
        <p:spPr>
          <a:xfrm>
            <a:off x="609600" y="5934075"/>
            <a:ext cx="10972800" cy="466725"/>
          </a:xfrm>
          <a:prstGeom prst="roundRect">
            <a:avLst>
              <a:gd name="adj" fmla="val 16326"/>
            </a:avLst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609600" y="2502693"/>
            <a:ext cx="3505200" cy="2071687"/>
          </a:xfrm>
          <a:prstGeom prst="roundRect">
            <a:avLst>
              <a:gd name="adj" fmla="val 5517"/>
            </a:avLst>
          </a:prstGeom>
          <a:solidFill>
            <a:srgbClr val="F9FAFB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4343400" y="2502693"/>
            <a:ext cx="3505200" cy="2071687"/>
          </a:xfrm>
          <a:prstGeom prst="roundRect">
            <a:avLst>
              <a:gd name="adj" fmla="val 5517"/>
            </a:avLst>
          </a:prstGeom>
          <a:solidFill>
            <a:srgbClr val="F9FAFB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8077200" y="2502693"/>
            <a:ext cx="3505200" cy="2071687"/>
          </a:xfrm>
          <a:prstGeom prst="roundRect">
            <a:avLst>
              <a:gd name="adj" fmla="val 5517"/>
            </a:avLst>
          </a:prstGeom>
          <a:solidFill>
            <a:srgbClr val="F9FAFB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925" y="281701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57725" y="281701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91525" y="281701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4887" y="2912268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29162" y="2912268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96300" y="2912268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609600" y="457200"/>
            <a:ext cx="110680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Core Architecture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09600" y="723900"/>
            <a:ext cx="11582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What is NVIDIA NeMo AutoModel?</a:t>
            </a:r>
            <a:endParaRPr dirty="0"/>
          </a:p>
        </p:txBody>
      </p:sp>
      <p:sp>
        <p:nvSpPr>
          <p:cNvPr id="112" name="Google Shape;112;p14"/>
          <p:cNvSpPr txBox="1"/>
          <p:nvPr/>
        </p:nvSpPr>
        <p:spPr>
          <a:xfrm>
            <a:off x="838200" y="6086475"/>
            <a:ext cx="1774031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Supported Modalities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924675" y="6086475"/>
            <a:ext cx="52673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LLMs (CausalLM) • VLMs (ImageTextToText) • ASR (SpeechSeq2Seq)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923925" y="3312318"/>
            <a:ext cx="377547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Hugging Face Native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923925" y="3617118"/>
            <a:ext cx="2971800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Zero checkpoint conversion required. Day-0 compatibility for new Hugging Face Hub releases.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4657725" y="3312318"/>
            <a:ext cx="377547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Hackable &amp; Linear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4657725" y="3617118"/>
            <a:ext cx="2971800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Transparent linear training scripts driven by pure YAML configurations with zero hidden trainer abstractions.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8391525" y="3312318"/>
            <a:ext cx="377547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Open Source Standard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8391525" y="3617118"/>
            <a:ext cx="2971800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Fully Apache 2.0 licensed, actively backed by NVIDIA as part of the broader enterprise NeMo framework.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"/>
          <p:cNvSpPr/>
          <p:nvPr/>
        </p:nvSpPr>
        <p:spPr>
          <a:xfrm>
            <a:off x="609600" y="5905500"/>
            <a:ext cx="10972800" cy="495300"/>
          </a:xfrm>
          <a:prstGeom prst="roundRect">
            <a:avLst>
              <a:gd name="adj" fmla="val 15384"/>
            </a:avLst>
          </a:prstGeom>
          <a:solidFill>
            <a:srgbClr val="EFF6FF"/>
          </a:solidFill>
          <a:ln w="9525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609600" y="2843212"/>
            <a:ext cx="1874490" cy="1362075"/>
          </a:xfrm>
          <a:prstGeom prst="roundRect">
            <a:avLst>
              <a:gd name="adj" fmla="val 5594"/>
            </a:avLst>
          </a:prstGeom>
          <a:solidFill>
            <a:srgbClr val="F9FAFB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2884140" y="2843212"/>
            <a:ext cx="1874490" cy="1362075"/>
          </a:xfrm>
          <a:prstGeom prst="roundRect">
            <a:avLst>
              <a:gd name="adj" fmla="val 5594"/>
            </a:avLst>
          </a:prstGeom>
          <a:solidFill>
            <a:srgbClr val="F9FAFB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5158680" y="2843212"/>
            <a:ext cx="1874490" cy="1362075"/>
          </a:xfrm>
          <a:prstGeom prst="roundRect">
            <a:avLst>
              <a:gd name="adj" fmla="val 5594"/>
            </a:avLst>
          </a:prstGeom>
          <a:solidFill>
            <a:srgbClr val="F9FAFB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7433220" y="2843212"/>
            <a:ext cx="1874490" cy="1362075"/>
          </a:xfrm>
          <a:prstGeom prst="roundRect">
            <a:avLst>
              <a:gd name="adj" fmla="val 5594"/>
            </a:avLst>
          </a:prstGeom>
          <a:solidFill>
            <a:srgbClr val="F9FAFB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9707760" y="2843212"/>
            <a:ext cx="1874490" cy="1362075"/>
          </a:xfrm>
          <a:prstGeom prst="roundRect">
            <a:avLst>
              <a:gd name="adj" fmla="val 5594"/>
            </a:avLst>
          </a:prstGeom>
          <a:solidFill>
            <a:srgbClr val="F9FAFB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1394370" y="304323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76B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3668910" y="304323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76B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5943451" y="304323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76B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8217991" y="304323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76B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10492531" y="304323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76B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36490" y="344805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1030" y="344805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85570" y="344805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60110" y="344805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606742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 txBox="1"/>
          <p:nvPr/>
        </p:nvSpPr>
        <p:spPr>
          <a:xfrm>
            <a:off x="609600" y="457200"/>
            <a:ext cx="110680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Execution Flow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609600" y="723900"/>
            <a:ext cx="11582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Notebook Implementation Pipeline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1057275" y="6072187"/>
            <a:ext cx="9727406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Notebook Architecture Note: CPU handles text processing via Ray backend; GPU handles AutoModel T4 LoRA fine-tuning.</a:t>
            </a:r>
            <a:endParaRPr dirty="0"/>
          </a:p>
        </p:txBody>
      </p:sp>
      <p:sp>
        <p:nvSpPr>
          <p:cNvPr id="143" name="Google Shape;143;p15"/>
          <p:cNvSpPr txBox="1"/>
          <p:nvPr/>
        </p:nvSpPr>
        <p:spPr>
          <a:xfrm>
            <a:off x="1251495" y="3043237"/>
            <a:ext cx="5905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579243" y="3462337"/>
            <a:ext cx="193520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PDF Ingestion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625319" y="3700462"/>
            <a:ext cx="18430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PyMuPDF parses raw text &amp; page metadata.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3526035" y="3043237"/>
            <a:ext cx="5905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2853783" y="3462337"/>
            <a:ext cx="193520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NeMo Curator</a:t>
            </a:r>
            <a:endParaRPr dirty="0"/>
          </a:p>
        </p:txBody>
      </p:sp>
      <p:sp>
        <p:nvSpPr>
          <p:cNvPr id="148" name="Google Shape;148;p15"/>
          <p:cNvSpPr txBox="1"/>
          <p:nvPr/>
        </p:nvSpPr>
        <p:spPr>
          <a:xfrm>
            <a:off x="2899860" y="3700462"/>
            <a:ext cx="18430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CPU text cleaning, normalizers, &amp; filters.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5800576" y="3043237"/>
            <a:ext cx="5905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5128324" y="3462337"/>
            <a:ext cx="193520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Dataset Prep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5174400" y="3700462"/>
            <a:ext cx="18430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256-token blocks &amp; shifted label masking.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8075116" y="3043237"/>
            <a:ext cx="5905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7402864" y="3462337"/>
            <a:ext cx="193520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NeMo Training</a:t>
            </a:r>
            <a:endParaRPr dirty="0"/>
          </a:p>
        </p:txBody>
      </p:sp>
      <p:sp>
        <p:nvSpPr>
          <p:cNvPr id="154" name="Google Shape;154;p15"/>
          <p:cNvSpPr txBox="1"/>
          <p:nvPr/>
        </p:nvSpPr>
        <p:spPr>
          <a:xfrm>
            <a:off x="7448940" y="3700462"/>
            <a:ext cx="18430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AutoModel execution driven by YAML config.</a:t>
            </a:r>
            <a:endParaRPr dirty="0"/>
          </a:p>
        </p:txBody>
      </p:sp>
      <p:sp>
        <p:nvSpPr>
          <p:cNvPr id="155" name="Google Shape;155;p15"/>
          <p:cNvSpPr txBox="1"/>
          <p:nvPr/>
        </p:nvSpPr>
        <p:spPr>
          <a:xfrm>
            <a:off x="10349656" y="3043237"/>
            <a:ext cx="5905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9677404" y="3462337"/>
            <a:ext cx="193520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Evaluation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9723480" y="3700462"/>
            <a:ext cx="18430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Loss tracking &amp; held-out document evaluation.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/>
          <p:nvPr/>
        </p:nvSpPr>
        <p:spPr>
          <a:xfrm>
            <a:off x="609600" y="5667375"/>
            <a:ext cx="10972800" cy="733425"/>
          </a:xfrm>
          <a:prstGeom prst="roundRect">
            <a:avLst>
              <a:gd name="adj" fmla="val 1038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609600" y="2671762"/>
            <a:ext cx="5076825" cy="1466850"/>
          </a:xfrm>
          <a:prstGeom prst="roundRect">
            <a:avLst>
              <a:gd name="adj" fmla="val 7792"/>
            </a:avLst>
          </a:prstGeom>
          <a:solidFill>
            <a:srgbClr val="F9FAFB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6505575" y="2671762"/>
            <a:ext cx="5076825" cy="1466850"/>
          </a:xfrm>
          <a:prstGeom prst="roundRect">
            <a:avLst>
              <a:gd name="adj" fmla="val 7792"/>
            </a:avLst>
          </a:prstGeom>
          <a:solidFill>
            <a:srgbClr val="F0FDF4"/>
          </a:solidFill>
          <a:ln w="9525" cap="flat" cmpd="sng">
            <a:solidFill>
              <a:srgbClr val="BBF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2295525" y="5829300"/>
            <a:ext cx="9525" cy="409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4905375" y="5829300"/>
            <a:ext cx="9525" cy="409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4667250" y="2947987"/>
            <a:ext cx="742950" cy="219075"/>
          </a:xfrm>
          <a:prstGeom prst="roundRect">
            <a:avLst>
              <a:gd name="adj" fmla="val 17391"/>
            </a:avLst>
          </a:prstGeom>
          <a:solidFill>
            <a:srgbClr val="FEE2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10210800" y="2947987"/>
            <a:ext cx="1095375" cy="219075"/>
          </a:xfrm>
          <a:prstGeom prst="roundRect">
            <a:avLst>
              <a:gd name="adj" fmla="val 17391"/>
            </a:avLst>
          </a:prstGeom>
          <a:solidFill>
            <a:srgbClr val="DCFC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91225" y="3290887"/>
            <a:ext cx="2095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5825" y="3495675"/>
            <a:ext cx="1238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5825" y="3724275"/>
            <a:ext cx="1238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81800" y="3495675"/>
            <a:ext cx="1238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81800" y="3724275"/>
            <a:ext cx="1047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6"/>
          <p:cNvSpPr txBox="1"/>
          <p:nvPr/>
        </p:nvSpPr>
        <p:spPr>
          <a:xfrm>
            <a:off x="609600" y="457200"/>
            <a:ext cx="110680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Data Curation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609600" y="723900"/>
            <a:ext cx="11582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Dataset Expansion &amp; Synthetic Augmentation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847725" y="5829300"/>
            <a:ext cx="13144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Extracted Pages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2524125" y="5829300"/>
            <a:ext cx="224790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Word Count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5133975" y="5829300"/>
            <a:ext cx="285750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Storage Format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885825" y="3167062"/>
            <a:ext cx="5655468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Metformin-Lipid-Therapy-Knowledge.pdf (6 pages).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6781800" y="3167062"/>
            <a:ext cx="54102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Fetches related articles &amp; converts directly to PyMuPDF pages.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847725" y="6038850"/>
            <a:ext cx="1524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47 Total Pages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2533650" y="6038850"/>
            <a:ext cx="267890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~14,000 Academic Words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5143500" y="6038850"/>
            <a:ext cx="344090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JSONL (Page-Level Provenance)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885825" y="2957512"/>
            <a:ext cx="166270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Primary Upload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4743450" y="2986087"/>
            <a:ext cx="6858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Single Doc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885825" y="3481387"/>
            <a:ext cx="5655468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6 pages is too small for meaningful domain adaptation.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885825" y="3709987"/>
            <a:ext cx="5655468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Causes severe baseline loss mismatch during evaluation.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6781800" y="2957512"/>
            <a:ext cx="226278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Wikipedia Expansion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10287000" y="2986087"/>
            <a:ext cx="10382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8 Synthetic PDFs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6781800" y="3481387"/>
            <a:ext cx="54102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7 Training Docs:</a:t>
            </a:r>
            <a:r>
              <a:rPr lang="en-US" sz="975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Metformin, T2D, Statin, AMPK, etc.</a:t>
            </a:r>
            <a:endParaRPr/>
          </a:p>
        </p:txBody>
      </p:sp>
      <p:sp>
        <p:nvSpPr>
          <p:cNvPr id="191" name="Google Shape;191;p16"/>
          <p:cNvSpPr txBox="1"/>
          <p:nvPr/>
        </p:nvSpPr>
        <p:spPr>
          <a:xfrm>
            <a:off x="6781800" y="3709987"/>
            <a:ext cx="54102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1 Validation Doc:</a:t>
            </a:r>
            <a:r>
              <a:rPr lang="en-US" sz="975" b="0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Atorvastatin (Strictly held out).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"/>
          <p:cNvSpPr/>
          <p:nvPr/>
        </p:nvSpPr>
        <p:spPr>
          <a:xfrm>
            <a:off x="609600" y="2286000"/>
            <a:ext cx="10972800" cy="2143125"/>
          </a:xfrm>
          <a:prstGeom prst="roundRect">
            <a:avLst>
              <a:gd name="adj" fmla="val 5333"/>
            </a:avLst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/>
          <p:nvPr/>
        </p:nvSpPr>
        <p:spPr>
          <a:xfrm>
            <a:off x="609600" y="5572125"/>
            <a:ext cx="5372100" cy="828675"/>
          </a:xfrm>
          <a:prstGeom prst="roundRect">
            <a:avLst>
              <a:gd name="adj" fmla="val 9195"/>
            </a:avLst>
          </a:prstGeom>
          <a:solidFill>
            <a:srgbClr val="F9FAFB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7"/>
          <p:cNvSpPr/>
          <p:nvPr/>
        </p:nvSpPr>
        <p:spPr>
          <a:xfrm>
            <a:off x="6210300" y="5572125"/>
            <a:ext cx="5372100" cy="828675"/>
          </a:xfrm>
          <a:prstGeom prst="roundRect">
            <a:avLst>
              <a:gd name="adj" fmla="val 9195"/>
            </a:avLst>
          </a:prstGeom>
          <a:solidFill>
            <a:srgbClr val="F9FAFB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/>
          <p:cNvSpPr txBox="1"/>
          <p:nvPr/>
        </p:nvSpPr>
        <p:spPr>
          <a:xfrm>
            <a:off x="609600" y="457200"/>
            <a:ext cx="110680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Text Processing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609600" y="723900"/>
            <a:ext cx="11582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NeMo Curator Modular Processing Pipeline</a:t>
            </a:r>
            <a:endParaRPr dirty="0"/>
          </a:p>
        </p:txBody>
      </p:sp>
      <p:sp>
        <p:nvSpPr>
          <p:cNvPr id="201" name="Google Shape;201;p17"/>
          <p:cNvSpPr txBox="1"/>
          <p:nvPr/>
        </p:nvSpPr>
        <p:spPr>
          <a:xfrm>
            <a:off x="838200" y="2514600"/>
            <a:ext cx="113538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Real NeMo Curator Pipeline Definition executed on CPU via Ray/Xenna backend</a:t>
            </a:r>
            <a:endParaRPr dirty="0"/>
          </a:p>
        </p:txBody>
      </p:sp>
      <p:sp>
        <p:nvSpPr>
          <p:cNvPr id="202" name="Google Shape;202;p17"/>
          <p:cNvSpPr txBox="1"/>
          <p:nvPr/>
        </p:nvSpPr>
        <p:spPr>
          <a:xfrm>
            <a:off x="838200" y="2790825"/>
            <a:ext cx="113538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F7B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pipeline = SequentialPipeline(name="pharma_pdf_curation")</a:t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838200" y="2952750"/>
            <a:ext cx="113538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9D1D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pipeline.add_stage(JsonlReader(input_dir=RAW_DIR))</a:t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838200" y="3114675"/>
            <a:ext cx="113538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9D1D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pipeline.add_stage(Modify(UnicodeReformatter())) </a:t>
            </a:r>
            <a:r>
              <a:rPr lang="en-US" sz="975" b="0" i="0" u="none" strike="noStrike" cap="none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Fixes encoding artifacts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838200" y="3276600"/>
            <a:ext cx="113538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9D1D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pipeline.add_stage(Modify(NewlineNormalizer())) </a:t>
            </a:r>
            <a:r>
              <a:rPr lang="en-US" sz="975" b="0" i="0" u="none" strike="noStrike" cap="none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Standardizes whitespace</a:t>
            </a:r>
            <a:endParaRPr/>
          </a:p>
        </p:txBody>
      </p:sp>
      <p:sp>
        <p:nvSpPr>
          <p:cNvPr id="206" name="Google Shape;206;p17"/>
          <p:cNvSpPr txBox="1"/>
          <p:nvPr/>
        </p:nvSpPr>
        <p:spPr>
          <a:xfrm>
            <a:off x="838200" y="3438525"/>
            <a:ext cx="113538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9D1D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pipeline.add_stage(Modify(PharmaPDFCleaner())) </a:t>
            </a:r>
            <a:r>
              <a:rPr lang="en-US" sz="975" b="0" i="0" u="none" strike="noStrike" cap="none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Custom DocumentModifier for PDF artifacts</a:t>
            </a:r>
            <a:endParaRPr/>
          </a:p>
        </p:txBody>
      </p:sp>
      <p:sp>
        <p:nvSpPr>
          <p:cNvPr id="207" name="Google Shape;207;p17"/>
          <p:cNvSpPr txBox="1"/>
          <p:nvPr/>
        </p:nvSpPr>
        <p:spPr>
          <a:xfrm>
            <a:off x="838200" y="3600450"/>
            <a:ext cx="113538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9D1D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pipeline.add_stage(ScoreFilter(WordCountFilter(min_words=20))) </a:t>
            </a:r>
            <a:r>
              <a:rPr lang="en-US" sz="975" b="0" i="0" u="none" strike="noStrike" cap="none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Drops tiny fragments</a:t>
            </a:r>
            <a:endParaRPr/>
          </a:p>
        </p:txBody>
      </p:sp>
      <p:sp>
        <p:nvSpPr>
          <p:cNvPr id="208" name="Google Shape;208;p17"/>
          <p:cNvSpPr txBox="1"/>
          <p:nvPr/>
        </p:nvSpPr>
        <p:spPr>
          <a:xfrm>
            <a:off x="838200" y="3762375"/>
            <a:ext cx="113538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9D1D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pipeline.add_stage(JsonlWriter(output_dir=CURATED_DIR))</a:t>
            </a:r>
            <a:endParaRPr/>
          </a:p>
        </p:txBody>
      </p:sp>
      <p:sp>
        <p:nvSpPr>
          <p:cNvPr id="209" name="Google Shape;209;p17"/>
          <p:cNvSpPr txBox="1"/>
          <p:nvPr/>
        </p:nvSpPr>
        <p:spPr>
          <a:xfrm>
            <a:off x="838200" y="4038600"/>
            <a:ext cx="113538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7EE7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pipeline.run()</a:t>
            </a:r>
            <a:endParaRPr/>
          </a:p>
        </p:txBody>
      </p:sp>
      <p:sp>
        <p:nvSpPr>
          <p:cNvPr id="210" name="Google Shape;210;p17"/>
          <p:cNvSpPr txBox="1"/>
          <p:nvPr/>
        </p:nvSpPr>
        <p:spPr>
          <a:xfrm>
            <a:off x="771525" y="5734050"/>
            <a:ext cx="6625828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Custom DocumentModifier</a:t>
            </a:r>
            <a:endParaRPr/>
          </a:p>
        </p:txBody>
      </p:sp>
      <p:sp>
        <p:nvSpPr>
          <p:cNvPr id="211" name="Google Shape;211;p17"/>
          <p:cNvSpPr txBox="1"/>
          <p:nvPr/>
        </p:nvSpPr>
        <p:spPr>
          <a:xfrm>
            <a:off x="771525" y="5934075"/>
            <a:ext cx="6310312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Strips headers, footers, &amp; explicitly labeled Q&amp;A artifacts specific to teaching PDFs.</a:t>
            </a: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6372225" y="5734050"/>
            <a:ext cx="5819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Ray/Xenna Execution Backend</a:t>
            </a:r>
            <a:endParaRPr/>
          </a:p>
        </p:txBody>
      </p:sp>
      <p:sp>
        <p:nvSpPr>
          <p:cNvPr id="213" name="Google Shape;213;p17"/>
          <p:cNvSpPr txBox="1"/>
          <p:nvPr/>
        </p:nvSpPr>
        <p:spPr>
          <a:xfrm>
            <a:off x="6372225" y="5934075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Spans CPU worker actors dynamically for pipeline execution without requiring GPU stack.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"/>
          <p:cNvSpPr/>
          <p:nvPr/>
        </p:nvSpPr>
        <p:spPr>
          <a:xfrm>
            <a:off x="609600" y="2590800"/>
            <a:ext cx="5992117" cy="2362200"/>
          </a:xfrm>
          <a:prstGeom prst="roundRect">
            <a:avLst>
              <a:gd name="adj" fmla="val 4838"/>
            </a:avLst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6906517" y="2576512"/>
            <a:ext cx="4675882" cy="695325"/>
          </a:xfrm>
          <a:prstGeom prst="roundRect">
            <a:avLst>
              <a:gd name="adj" fmla="val 10958"/>
            </a:avLst>
          </a:prstGeom>
          <a:solidFill>
            <a:srgbClr val="F9FAFB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6906517" y="3424237"/>
            <a:ext cx="4675882" cy="695325"/>
          </a:xfrm>
          <a:prstGeom prst="roundRect">
            <a:avLst>
              <a:gd name="adj" fmla="val 10958"/>
            </a:avLst>
          </a:prstGeom>
          <a:solidFill>
            <a:srgbClr val="F9FAFB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6906517" y="4271962"/>
            <a:ext cx="4675882" cy="695325"/>
          </a:xfrm>
          <a:prstGeom prst="roundRect">
            <a:avLst>
              <a:gd name="adj" fmla="val 10958"/>
            </a:avLst>
          </a:prstGeom>
          <a:solidFill>
            <a:srgbClr val="F9FAFB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 txBox="1"/>
          <p:nvPr/>
        </p:nvSpPr>
        <p:spPr>
          <a:xfrm>
            <a:off x="609600" y="457200"/>
            <a:ext cx="110680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AutoModel Configuration</a:t>
            </a:r>
            <a:endParaRPr dirty="0"/>
          </a:p>
        </p:txBody>
      </p:sp>
      <p:sp>
        <p:nvSpPr>
          <p:cNvPr id="223" name="Google Shape;223;p18"/>
          <p:cNvSpPr txBox="1"/>
          <p:nvPr/>
        </p:nvSpPr>
        <p:spPr>
          <a:xfrm>
            <a:off x="609600" y="723900"/>
            <a:ext cx="11582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The YAML Fine-Tuning Recipe</a:t>
            </a:r>
            <a:endParaRPr/>
          </a:p>
        </p:txBody>
      </p:sp>
      <p:sp>
        <p:nvSpPr>
          <p:cNvPr id="224" name="Google Shape;224;p18"/>
          <p:cNvSpPr txBox="1"/>
          <p:nvPr/>
        </p:nvSpPr>
        <p:spPr>
          <a:xfrm>
            <a:off x="800100" y="2781300"/>
            <a:ext cx="701389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79C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recipe: </a:t>
            </a:r>
            <a:r>
              <a:rPr lang="en-US" sz="900" b="0" i="0" u="none" strike="noStrike" cap="none">
                <a:solidFill>
                  <a:srgbClr val="A5D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TrainFinetuneRecipeForNextTokenPrediction</a:t>
            </a:r>
            <a:endParaRPr/>
          </a:p>
        </p:txBody>
      </p:sp>
      <p:sp>
        <p:nvSpPr>
          <p:cNvPr id="225" name="Google Shape;225;p18"/>
          <p:cNvSpPr txBox="1"/>
          <p:nvPr/>
        </p:nvSpPr>
        <p:spPr>
          <a:xfrm>
            <a:off x="800100" y="2933700"/>
            <a:ext cx="701389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79C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model: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952500" y="3086100"/>
            <a:ext cx="686149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9D1D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cls: </a:t>
            </a:r>
            <a:r>
              <a:rPr lang="en-US" sz="900" b="0" i="0" u="none" strike="noStrike" cap="none">
                <a:solidFill>
                  <a:srgbClr val="A5D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NeMoAutoModelForCausalLM</a:t>
            </a:r>
            <a:endParaRPr/>
          </a:p>
        </p:txBody>
      </p:sp>
      <p:sp>
        <p:nvSpPr>
          <p:cNvPr id="227" name="Google Shape;227;p18"/>
          <p:cNvSpPr txBox="1"/>
          <p:nvPr/>
        </p:nvSpPr>
        <p:spPr>
          <a:xfrm>
            <a:off x="952500" y="3238500"/>
            <a:ext cx="686149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9D1D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path: </a:t>
            </a:r>
            <a:r>
              <a:rPr lang="en-US" sz="900" b="0" i="0" u="none" strike="noStrike" cap="none">
                <a:solidFill>
                  <a:srgbClr val="A5D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"TinyLlama/TinyLlama-1.1B-intermediate-step-1431k-3T"</a:t>
            </a:r>
            <a:endParaRPr/>
          </a:p>
        </p:txBody>
      </p:sp>
      <p:sp>
        <p:nvSpPr>
          <p:cNvPr id="228" name="Google Shape;228;p18"/>
          <p:cNvSpPr txBox="1"/>
          <p:nvPr/>
        </p:nvSpPr>
        <p:spPr>
          <a:xfrm>
            <a:off x="800100" y="3390900"/>
            <a:ext cx="701389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79C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peft:</a:t>
            </a:r>
            <a:endParaRPr/>
          </a:p>
        </p:txBody>
      </p:sp>
      <p:sp>
        <p:nvSpPr>
          <p:cNvPr id="229" name="Google Shape;229;p18"/>
          <p:cNvSpPr txBox="1"/>
          <p:nvPr/>
        </p:nvSpPr>
        <p:spPr>
          <a:xfrm>
            <a:off x="952500" y="3543300"/>
            <a:ext cx="686149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9D1D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dim: </a:t>
            </a:r>
            <a:r>
              <a:rPr lang="en-US" sz="900" b="0" i="0" u="none" strike="noStrike" cap="none">
                <a:solidFill>
                  <a:srgbClr val="7EE7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</a:t>
            </a:r>
            <a:endParaRPr/>
          </a:p>
        </p:txBody>
      </p:sp>
      <p:sp>
        <p:nvSpPr>
          <p:cNvPr id="230" name="Google Shape;230;p18"/>
          <p:cNvSpPr txBox="1"/>
          <p:nvPr/>
        </p:nvSpPr>
        <p:spPr>
          <a:xfrm>
            <a:off x="952500" y="3695700"/>
            <a:ext cx="686149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9D1D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alpha: </a:t>
            </a:r>
            <a:r>
              <a:rPr lang="en-US" sz="900" b="0" i="0" u="none" strike="noStrike" cap="none">
                <a:solidFill>
                  <a:srgbClr val="7EE7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16</a:t>
            </a:r>
            <a:endParaRPr/>
          </a:p>
        </p:txBody>
      </p:sp>
      <p:sp>
        <p:nvSpPr>
          <p:cNvPr id="231" name="Google Shape;231;p18"/>
          <p:cNvSpPr txBox="1"/>
          <p:nvPr/>
        </p:nvSpPr>
        <p:spPr>
          <a:xfrm>
            <a:off x="952500" y="3848100"/>
            <a:ext cx="686149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9D1D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target_modules: </a:t>
            </a:r>
            <a:r>
              <a:rPr lang="en-US" sz="900" b="0" i="0" u="none" strike="noStrike" cap="none">
                <a:solidFill>
                  <a:srgbClr val="A5D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["q_proj", "v_proj"]</a:t>
            </a:r>
            <a:endParaRPr/>
          </a:p>
        </p:txBody>
      </p:sp>
      <p:sp>
        <p:nvSpPr>
          <p:cNvPr id="232" name="Google Shape;232;p18"/>
          <p:cNvSpPr txBox="1"/>
          <p:nvPr/>
        </p:nvSpPr>
        <p:spPr>
          <a:xfrm>
            <a:off x="800100" y="4000500"/>
            <a:ext cx="701389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79C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dataset:</a:t>
            </a:r>
            <a:endParaRPr/>
          </a:p>
        </p:txBody>
      </p:sp>
      <p:sp>
        <p:nvSpPr>
          <p:cNvPr id="233" name="Google Shape;233;p18"/>
          <p:cNvSpPr txBox="1"/>
          <p:nvPr/>
        </p:nvSpPr>
        <p:spPr>
          <a:xfrm>
            <a:off x="952500" y="4152900"/>
            <a:ext cx="686149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9D1D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factory: </a:t>
            </a:r>
            <a:r>
              <a:rPr lang="en-US" sz="900" b="0" i="0" u="none" strike="noStrike" cap="none">
                <a:solidFill>
                  <a:srgbClr val="A5D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pharma_causal_dataset.py</a:t>
            </a:r>
            <a:endParaRPr/>
          </a:p>
        </p:txBody>
      </p:sp>
      <p:sp>
        <p:nvSpPr>
          <p:cNvPr id="234" name="Google Shape;234;p18"/>
          <p:cNvSpPr txBox="1"/>
          <p:nvPr/>
        </p:nvSpPr>
        <p:spPr>
          <a:xfrm>
            <a:off x="952500" y="4305300"/>
            <a:ext cx="686149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9D1D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max_seq_len: </a:t>
            </a:r>
            <a:r>
              <a:rPr lang="en-US" sz="900" b="0" i="0" u="none" strike="noStrike" cap="none">
                <a:solidFill>
                  <a:srgbClr val="7EE7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256</a:t>
            </a:r>
            <a:endParaRPr/>
          </a:p>
        </p:txBody>
      </p:sp>
      <p:sp>
        <p:nvSpPr>
          <p:cNvPr id="235" name="Google Shape;235;p18"/>
          <p:cNvSpPr txBox="1"/>
          <p:nvPr/>
        </p:nvSpPr>
        <p:spPr>
          <a:xfrm>
            <a:off x="800100" y="4457700"/>
            <a:ext cx="701389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79C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step_scheduler:</a:t>
            </a:r>
            <a:endParaRPr/>
          </a:p>
        </p:txBody>
      </p:sp>
      <p:sp>
        <p:nvSpPr>
          <p:cNvPr id="236" name="Google Shape;236;p18"/>
          <p:cNvSpPr txBox="1"/>
          <p:nvPr/>
        </p:nvSpPr>
        <p:spPr>
          <a:xfrm>
            <a:off x="952500" y="4610100"/>
            <a:ext cx="686149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9D1D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max_steps: </a:t>
            </a:r>
            <a:r>
              <a:rPr lang="en-US" sz="900" b="0" i="0" u="none" strike="noStrike" cap="none">
                <a:solidFill>
                  <a:srgbClr val="7EE7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60</a:t>
            </a:r>
            <a:endParaRPr/>
          </a:p>
        </p:txBody>
      </p:sp>
      <p:sp>
        <p:nvSpPr>
          <p:cNvPr id="237" name="Google Shape;237;p18"/>
          <p:cNvSpPr txBox="1"/>
          <p:nvPr/>
        </p:nvSpPr>
        <p:spPr>
          <a:xfrm>
            <a:off x="7068442" y="2738437"/>
            <a:ext cx="512355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Base Model</a:t>
            </a:r>
            <a:endParaRPr/>
          </a:p>
        </p:txBody>
      </p:sp>
      <p:sp>
        <p:nvSpPr>
          <p:cNvPr id="238" name="Google Shape;238;p18"/>
          <p:cNvSpPr txBox="1"/>
          <p:nvPr/>
        </p:nvSpPr>
        <p:spPr>
          <a:xfrm>
            <a:off x="7068442" y="2957512"/>
            <a:ext cx="512355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TinyLlama-1.1B (Float32 / BF16 execution on GPU).</a:t>
            </a:r>
            <a:endParaRPr/>
          </a:p>
        </p:txBody>
      </p:sp>
      <p:sp>
        <p:nvSpPr>
          <p:cNvPr id="239" name="Google Shape;239;p18"/>
          <p:cNvSpPr txBox="1"/>
          <p:nvPr/>
        </p:nvSpPr>
        <p:spPr>
          <a:xfrm>
            <a:off x="7068442" y="3586162"/>
            <a:ext cx="512355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PEFT Adapter Strategy</a:t>
            </a:r>
            <a:endParaRPr/>
          </a:p>
        </p:txBody>
      </p:sp>
      <p:sp>
        <p:nvSpPr>
          <p:cNvPr id="240" name="Google Shape;240;p18"/>
          <p:cNvSpPr txBox="1"/>
          <p:nvPr/>
        </p:nvSpPr>
        <p:spPr>
          <a:xfrm>
            <a:off x="7068442" y="3805237"/>
            <a:ext cx="512355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LoRA rank 8 (plain LoRA, quantization toggled off).</a:t>
            </a:r>
            <a:endParaRPr dirty="0"/>
          </a:p>
        </p:txBody>
      </p:sp>
      <p:sp>
        <p:nvSpPr>
          <p:cNvPr id="241" name="Google Shape;241;p18"/>
          <p:cNvSpPr txBox="1"/>
          <p:nvPr/>
        </p:nvSpPr>
        <p:spPr>
          <a:xfrm>
            <a:off x="7068442" y="4433887"/>
            <a:ext cx="512355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Custom Causal Factory</a:t>
            </a:r>
            <a:endParaRPr/>
          </a:p>
        </p:txBody>
      </p:sp>
      <p:sp>
        <p:nvSpPr>
          <p:cNvPr id="242" name="Google Shape;242;p18"/>
          <p:cNvSpPr txBox="1"/>
          <p:nvPr/>
        </p:nvSpPr>
        <p:spPr>
          <a:xfrm>
            <a:off x="7068442" y="4652962"/>
            <a:ext cx="512355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Raw-text next-token training (not instruction SFT).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9"/>
          <p:cNvSpPr/>
          <p:nvPr/>
        </p:nvSpPr>
        <p:spPr>
          <a:xfrm>
            <a:off x="609600" y="5934075"/>
            <a:ext cx="10972800" cy="466725"/>
          </a:xfrm>
          <a:prstGeom prst="roundRect">
            <a:avLst>
              <a:gd name="adj" fmla="val 16326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609600" y="2728912"/>
            <a:ext cx="3505200" cy="1619250"/>
          </a:xfrm>
          <a:prstGeom prst="roundRect">
            <a:avLst>
              <a:gd name="adj" fmla="val 705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4343400" y="2728912"/>
            <a:ext cx="3505200" cy="1619250"/>
          </a:xfrm>
          <a:prstGeom prst="roundRect">
            <a:avLst>
              <a:gd name="adj" fmla="val 705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8077200" y="2728912"/>
            <a:ext cx="3505200" cy="1619250"/>
          </a:xfrm>
          <a:prstGeom prst="roundRect">
            <a:avLst>
              <a:gd name="adj" fmla="val 705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 txBox="1"/>
          <p:nvPr/>
        </p:nvSpPr>
        <p:spPr>
          <a:xfrm>
            <a:off x="609600" y="457200"/>
            <a:ext cx="110680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Runtime Performance</a:t>
            </a:r>
            <a:endParaRPr/>
          </a:p>
        </p:txBody>
      </p:sp>
      <p:sp>
        <p:nvSpPr>
          <p:cNvPr id="252" name="Google Shape;252;p19"/>
          <p:cNvSpPr txBox="1"/>
          <p:nvPr/>
        </p:nvSpPr>
        <p:spPr>
          <a:xfrm>
            <a:off x="609600" y="723900"/>
            <a:ext cx="11582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T4 Hardware &amp; Resource Usage Profile</a:t>
            </a:r>
            <a:endParaRPr/>
          </a:p>
        </p:txBody>
      </p:sp>
      <p:sp>
        <p:nvSpPr>
          <p:cNvPr id="253" name="Google Shape;253;p19"/>
          <p:cNvSpPr txBox="1"/>
          <p:nvPr/>
        </p:nvSpPr>
        <p:spPr>
          <a:xfrm>
            <a:off x="476250" y="3033712"/>
            <a:ext cx="3771900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Trainable Parameters </a:t>
            </a:r>
            <a:r>
              <a:rPr lang="en-US" sz="975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~0.10% of 1.1B Base Parameters</a:t>
            </a:r>
            <a:endParaRPr/>
          </a:p>
        </p:txBody>
      </p:sp>
      <p:sp>
        <p:nvSpPr>
          <p:cNvPr id="254" name="Google Shape;254;p19"/>
          <p:cNvSpPr txBox="1"/>
          <p:nvPr/>
        </p:nvSpPr>
        <p:spPr>
          <a:xfrm>
            <a:off x="4210050" y="3033712"/>
            <a:ext cx="3771900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Peak GPU VRAM </a:t>
            </a:r>
            <a:r>
              <a:rPr lang="en-US" sz="975" b="0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Well within Colab T4 15 GiB Limit</a:t>
            </a:r>
            <a:endParaRPr dirty="0"/>
          </a:p>
        </p:txBody>
      </p:sp>
      <p:sp>
        <p:nvSpPr>
          <p:cNvPr id="255" name="Google Shape;255;p19"/>
          <p:cNvSpPr txBox="1"/>
          <p:nvPr/>
        </p:nvSpPr>
        <p:spPr>
          <a:xfrm>
            <a:off x="7943850" y="3033712"/>
            <a:ext cx="3771900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Step Throughput </a:t>
            </a:r>
            <a:r>
              <a:rPr lang="en-US" sz="975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Per Step (60 Total Steps ~2 mins)</a:t>
            </a:r>
            <a:endParaRPr/>
          </a:p>
        </p:txBody>
      </p:sp>
      <p:sp>
        <p:nvSpPr>
          <p:cNvPr id="256" name="Google Shape;256;p19"/>
          <p:cNvSpPr txBox="1"/>
          <p:nvPr/>
        </p:nvSpPr>
        <p:spPr>
          <a:xfrm>
            <a:off x="838200" y="6086475"/>
            <a:ext cx="45720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automodel --nproc-per-node=1 pharma_t4_lora.yaml</a:t>
            </a:r>
            <a:endParaRPr dirty="0"/>
          </a:p>
        </p:txBody>
      </p:sp>
      <p:sp>
        <p:nvSpPr>
          <p:cNvPr id="257" name="Google Shape;257;p19"/>
          <p:cNvSpPr txBox="1"/>
          <p:nvPr/>
        </p:nvSpPr>
        <p:spPr>
          <a:xfrm>
            <a:off x="9144000" y="6086475"/>
            <a:ext cx="27622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76B9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Status: Completed 60/60 Steps</a:t>
            </a:r>
            <a:endParaRPr/>
          </a:p>
        </p:txBody>
      </p:sp>
      <p:sp>
        <p:nvSpPr>
          <p:cNvPr id="258" name="Google Shape;258;p19"/>
          <p:cNvSpPr txBox="1"/>
          <p:nvPr/>
        </p:nvSpPr>
        <p:spPr>
          <a:xfrm>
            <a:off x="564356" y="3348037"/>
            <a:ext cx="35956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1.12M</a:t>
            </a:r>
            <a:endParaRPr/>
          </a:p>
        </p:txBody>
      </p:sp>
      <p:sp>
        <p:nvSpPr>
          <p:cNvPr id="259" name="Google Shape;259;p19"/>
          <p:cNvSpPr txBox="1"/>
          <p:nvPr/>
        </p:nvSpPr>
        <p:spPr>
          <a:xfrm>
            <a:off x="4298156" y="3348037"/>
            <a:ext cx="35956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~5.1 GiB</a:t>
            </a:r>
            <a:endParaRPr/>
          </a:p>
        </p:txBody>
      </p:sp>
      <p:sp>
        <p:nvSpPr>
          <p:cNvPr id="260" name="Google Shape;260;p19"/>
          <p:cNvSpPr txBox="1"/>
          <p:nvPr/>
        </p:nvSpPr>
        <p:spPr>
          <a:xfrm>
            <a:off x="8031956" y="3348037"/>
            <a:ext cx="35956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1.8s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0"/>
          <p:cNvSpPr/>
          <p:nvPr/>
        </p:nvSpPr>
        <p:spPr>
          <a:xfrm>
            <a:off x="609600" y="5905500"/>
            <a:ext cx="10972800" cy="495300"/>
          </a:xfrm>
          <a:prstGeom prst="roundRect">
            <a:avLst>
              <a:gd name="adj" fmla="val 15384"/>
            </a:avLst>
          </a:prstGeom>
          <a:solidFill>
            <a:srgbClr val="FEF2F2"/>
          </a:solidFill>
          <a:ln w="9525" cap="flat" cmpd="sng">
            <a:solidFill>
              <a:srgbClr val="FC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0"/>
          <p:cNvSpPr/>
          <p:nvPr/>
        </p:nvSpPr>
        <p:spPr>
          <a:xfrm>
            <a:off x="609600" y="2538412"/>
            <a:ext cx="5334000" cy="1971675"/>
          </a:xfrm>
          <a:prstGeom prst="roundRect">
            <a:avLst>
              <a:gd name="adj" fmla="val 5797"/>
            </a:avLst>
          </a:prstGeom>
          <a:solidFill>
            <a:srgbClr val="F9FAFB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6248400" y="2538412"/>
            <a:ext cx="5334000" cy="1971675"/>
          </a:xfrm>
          <a:prstGeom prst="roundRect">
            <a:avLst>
              <a:gd name="adj" fmla="val 5797"/>
            </a:avLst>
          </a:prstGeom>
          <a:solidFill>
            <a:srgbClr val="F8FAFC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606742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0"/>
          <p:cNvSpPr txBox="1"/>
          <p:nvPr/>
        </p:nvSpPr>
        <p:spPr>
          <a:xfrm>
            <a:off x="609600" y="457200"/>
            <a:ext cx="110680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Quantitative Results</a:t>
            </a:r>
            <a:endParaRPr/>
          </a:p>
        </p:txBody>
      </p:sp>
      <p:sp>
        <p:nvSpPr>
          <p:cNvPr id="270" name="Google Shape;270;p20"/>
          <p:cNvSpPr txBox="1"/>
          <p:nvPr/>
        </p:nvSpPr>
        <p:spPr>
          <a:xfrm>
            <a:off x="609600" y="723900"/>
            <a:ext cx="11582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Evaluation &amp; Held-Out Perplexity Metrics</a:t>
            </a:r>
            <a:endParaRPr/>
          </a:p>
        </p:txBody>
      </p:sp>
      <p:sp>
        <p:nvSpPr>
          <p:cNvPr id="271" name="Google Shape;271;p20"/>
          <p:cNvSpPr txBox="1"/>
          <p:nvPr/>
        </p:nvSpPr>
        <p:spPr>
          <a:xfrm>
            <a:off x="1057275" y="6072187"/>
            <a:ext cx="1002506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Critical Shift Requirement: Causal next-token loss requires explicit target label shifting by +1 position during dataset creation.</a:t>
            </a:r>
            <a:endParaRPr/>
          </a:p>
        </p:txBody>
      </p:sp>
      <p:sp>
        <p:nvSpPr>
          <p:cNvPr id="272" name="Google Shape;272;p20"/>
          <p:cNvSpPr txBox="1"/>
          <p:nvPr/>
        </p:nvSpPr>
        <p:spPr>
          <a:xfrm>
            <a:off x="885825" y="2814637"/>
            <a:ext cx="627578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Training Convergence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885825" y="4081462"/>
            <a:ext cx="597693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Demonstrates clear optimization convergence on training corpus.</a:t>
            </a:r>
            <a:endParaRPr/>
          </a:p>
        </p:txBody>
      </p:sp>
      <p:sp>
        <p:nvSpPr>
          <p:cNvPr id="274" name="Google Shape;274;p20"/>
          <p:cNvSpPr txBox="1"/>
          <p:nvPr/>
        </p:nvSpPr>
        <p:spPr>
          <a:xfrm>
            <a:off x="6524625" y="2814637"/>
            <a:ext cx="56673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Held-Out Evaluation (Atorvastatin)</a:t>
            </a:r>
            <a:endParaRPr/>
          </a:p>
        </p:txBody>
      </p:sp>
      <p:sp>
        <p:nvSpPr>
          <p:cNvPr id="275" name="Google Shape;275;p20"/>
          <p:cNvSpPr txBox="1"/>
          <p:nvPr/>
        </p:nvSpPr>
        <p:spPr>
          <a:xfrm>
            <a:off x="6524625" y="4081462"/>
            <a:ext cx="56673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Slight generalization gain measured on un-seen validation doc.</a:t>
            </a: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885825" y="3224212"/>
            <a:ext cx="1464468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Initial Loss (Step 1)</a:t>
            </a: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5191125" y="3205162"/>
            <a:ext cx="762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1182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3.241</a:t>
            </a:r>
            <a:endParaRPr/>
          </a:p>
        </p:txBody>
      </p:sp>
      <p:sp>
        <p:nvSpPr>
          <p:cNvPr id="278" name="Google Shape;278;p20"/>
          <p:cNvSpPr txBox="1"/>
          <p:nvPr/>
        </p:nvSpPr>
        <p:spPr>
          <a:xfrm>
            <a:off x="885825" y="3662362"/>
            <a:ext cx="1559718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Final Loss (Step 60)</a:t>
            </a:r>
            <a:endParaRPr/>
          </a:p>
        </p:txBody>
      </p:sp>
      <p:sp>
        <p:nvSpPr>
          <p:cNvPr id="279" name="Google Shape;279;p20"/>
          <p:cNvSpPr txBox="1"/>
          <p:nvPr/>
        </p:nvSpPr>
        <p:spPr>
          <a:xfrm>
            <a:off x="5191125" y="3643312"/>
            <a:ext cx="762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6A34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1.842</a:t>
            </a:r>
            <a:endParaRPr/>
          </a:p>
        </p:txBody>
      </p:sp>
      <p:sp>
        <p:nvSpPr>
          <p:cNvPr id="280" name="Google Shape;280;p20"/>
          <p:cNvSpPr txBox="1"/>
          <p:nvPr/>
        </p:nvSpPr>
        <p:spPr>
          <a:xfrm>
            <a:off x="6524625" y="3224212"/>
            <a:ext cx="14763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Baseline Perplexity</a:t>
            </a:r>
            <a:endParaRPr/>
          </a:p>
        </p:txBody>
      </p:sp>
      <p:sp>
        <p:nvSpPr>
          <p:cNvPr id="281" name="Google Shape;281;p20"/>
          <p:cNvSpPr txBox="1"/>
          <p:nvPr/>
        </p:nvSpPr>
        <p:spPr>
          <a:xfrm>
            <a:off x="10829925" y="3205162"/>
            <a:ext cx="762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1182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18.42</a:t>
            </a:r>
            <a:endParaRPr/>
          </a:p>
        </p:txBody>
      </p:sp>
      <p:sp>
        <p:nvSpPr>
          <p:cNvPr id="282" name="Google Shape;282;p20"/>
          <p:cNvSpPr txBox="1"/>
          <p:nvPr/>
        </p:nvSpPr>
        <p:spPr>
          <a:xfrm>
            <a:off x="6524625" y="3662362"/>
            <a:ext cx="15240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Adapted Perplexity</a:t>
            </a:r>
            <a:endParaRPr/>
          </a:p>
        </p:txBody>
      </p:sp>
      <p:sp>
        <p:nvSpPr>
          <p:cNvPr id="283" name="Google Shape;283;p20"/>
          <p:cNvSpPr txBox="1"/>
          <p:nvPr/>
        </p:nvSpPr>
        <p:spPr>
          <a:xfrm>
            <a:off x="10829925" y="3643312"/>
            <a:ext cx="762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17.89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1"/>
          <p:cNvSpPr/>
          <p:nvPr/>
        </p:nvSpPr>
        <p:spPr>
          <a:xfrm>
            <a:off x="609600" y="5905500"/>
            <a:ext cx="10972800" cy="495300"/>
          </a:xfrm>
          <a:prstGeom prst="roundRect">
            <a:avLst>
              <a:gd name="adj" fmla="val 15384"/>
            </a:avLst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609600" y="2652712"/>
            <a:ext cx="3505200" cy="1743075"/>
          </a:xfrm>
          <a:prstGeom prst="roundRect">
            <a:avLst>
              <a:gd name="adj" fmla="val 6557"/>
            </a:avLst>
          </a:prstGeom>
          <a:solidFill>
            <a:srgbClr val="F9FAFB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1"/>
          <p:cNvSpPr/>
          <p:nvPr/>
        </p:nvSpPr>
        <p:spPr>
          <a:xfrm>
            <a:off x="4343399" y="2652712"/>
            <a:ext cx="4436807" cy="1743075"/>
          </a:xfrm>
          <a:prstGeom prst="roundRect">
            <a:avLst>
              <a:gd name="adj" fmla="val 6557"/>
            </a:avLst>
          </a:prstGeom>
          <a:solidFill>
            <a:srgbClr val="F9FAFB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609600" y="457200"/>
            <a:ext cx="110680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Engineering Insights</a:t>
            </a:r>
            <a:endParaRPr/>
          </a:p>
        </p:txBody>
      </p:sp>
      <p:sp>
        <p:nvSpPr>
          <p:cNvPr id="293" name="Google Shape;293;p21"/>
          <p:cNvSpPr txBox="1"/>
          <p:nvPr/>
        </p:nvSpPr>
        <p:spPr>
          <a:xfrm>
            <a:off x="-266700" y="6057900"/>
            <a:ext cx="127254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Production Recommendation: Scale dataset to &gt;100MB domain text before fine-tuning for domain specialization.</a:t>
            </a:r>
            <a:endParaRPr/>
          </a:p>
        </p:txBody>
      </p:sp>
      <p:sp>
        <p:nvSpPr>
          <p:cNvPr id="294" name="Google Shape;294;p21"/>
          <p:cNvSpPr txBox="1"/>
          <p:nvPr/>
        </p:nvSpPr>
        <p:spPr>
          <a:xfrm>
            <a:off x="609600" y="723900"/>
            <a:ext cx="11582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Key Caveats &amp; Next Steps</a:t>
            </a:r>
            <a:endParaRPr/>
          </a:p>
        </p:txBody>
      </p:sp>
      <p:sp>
        <p:nvSpPr>
          <p:cNvPr id="295" name="Google Shape;295;p21"/>
          <p:cNvSpPr txBox="1"/>
          <p:nvPr/>
        </p:nvSpPr>
        <p:spPr>
          <a:xfrm>
            <a:off x="885825" y="2928937"/>
            <a:ext cx="369093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/>
          </a:p>
        </p:txBody>
      </p:sp>
      <p:sp>
        <p:nvSpPr>
          <p:cNvPr id="296" name="Google Shape;296;p21"/>
          <p:cNvSpPr txBox="1"/>
          <p:nvPr/>
        </p:nvSpPr>
        <p:spPr>
          <a:xfrm>
            <a:off x="885825" y="3233737"/>
            <a:ext cx="387548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Label Shift Verification</a:t>
            </a:r>
            <a:endParaRPr/>
          </a:p>
        </p:txBody>
      </p:sp>
      <p:sp>
        <p:nvSpPr>
          <p:cNvPr id="297" name="Google Shape;297;p21"/>
          <p:cNvSpPr txBox="1"/>
          <p:nvPr/>
        </p:nvSpPr>
        <p:spPr>
          <a:xfrm>
            <a:off x="885825" y="3509962"/>
            <a:ext cx="3048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Verify custom dataset factories explicitly shift labels = input_ids[1:] to avoid artificial loss drop without learning sequence continuity.</a:t>
            </a:r>
            <a:endParaRPr dirty="0"/>
          </a:p>
        </p:txBody>
      </p:sp>
      <p:sp>
        <p:nvSpPr>
          <p:cNvPr id="298" name="Google Shape;298;p21"/>
          <p:cNvSpPr txBox="1"/>
          <p:nvPr/>
        </p:nvSpPr>
        <p:spPr>
          <a:xfrm>
            <a:off x="4619625" y="2928937"/>
            <a:ext cx="369093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dirty="0"/>
          </a:p>
        </p:txBody>
      </p:sp>
      <p:sp>
        <p:nvSpPr>
          <p:cNvPr id="299" name="Google Shape;299;p21"/>
          <p:cNvSpPr txBox="1"/>
          <p:nvPr/>
        </p:nvSpPr>
        <p:spPr>
          <a:xfrm>
            <a:off x="4619625" y="3233737"/>
            <a:ext cx="387548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b="1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Adapter Verification</a:t>
            </a:r>
            <a:endParaRPr lang="en-US" dirty="0"/>
          </a:p>
        </p:txBody>
      </p:sp>
      <p:sp>
        <p:nvSpPr>
          <p:cNvPr id="300" name="Google Shape;300;p21"/>
          <p:cNvSpPr txBox="1"/>
          <p:nvPr/>
        </p:nvSpPr>
        <p:spPr>
          <a:xfrm>
            <a:off x="4619624" y="3509962"/>
            <a:ext cx="4278569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50" dirty="0">
                <a:solidFill>
                  <a:srgbClr val="4B5563"/>
                </a:solidFill>
                <a:latin typeface="Inter"/>
                <a:ea typeface="Inter"/>
                <a:sym typeface="Inter"/>
              </a:rPr>
              <a:t>Ensure Hugging Face PEFT correctly re-attaches saved LoRA weights during downstream inference checks.</a:t>
            </a:r>
            <a:endParaRPr lang="en-US" sz="1050" dirty="0">
              <a:solidFill>
                <a:srgbClr val="4B5563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2"/>
          <p:cNvSpPr/>
          <p:nvPr/>
        </p:nvSpPr>
        <p:spPr>
          <a:xfrm>
            <a:off x="4024312" y="4414837"/>
            <a:ext cx="2133600" cy="323850"/>
          </a:xfrm>
          <a:prstGeom prst="roundRect">
            <a:avLst>
              <a:gd name="adj" fmla="val 17647"/>
            </a:avLst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2"/>
          <p:cNvSpPr/>
          <p:nvPr/>
        </p:nvSpPr>
        <p:spPr>
          <a:xfrm>
            <a:off x="6310312" y="4419600"/>
            <a:ext cx="1857375" cy="314325"/>
          </a:xfrm>
          <a:prstGeom prst="roundRect">
            <a:avLst>
              <a:gd name="adj" fmla="val 18181"/>
            </a:avLst>
          </a:prstGeom>
          <a:solidFill>
            <a:srgbClr val="76B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2"/>
          <p:cNvSpPr txBox="1"/>
          <p:nvPr/>
        </p:nvSpPr>
        <p:spPr>
          <a:xfrm>
            <a:off x="4484954" y="2119312"/>
            <a:ext cx="322194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76B900"/>
                </a:solidFill>
                <a:latin typeface="Inter"/>
                <a:ea typeface="Inter"/>
                <a:cs typeface="Inter"/>
                <a:sym typeface="Inter"/>
              </a:rPr>
              <a:t>NEMO AUTOMODEL  LAB</a:t>
            </a:r>
            <a:endParaRPr dirty="0"/>
          </a:p>
        </p:txBody>
      </p:sp>
      <p:sp>
        <p:nvSpPr>
          <p:cNvPr id="311" name="Google Shape;311;p22"/>
          <p:cNvSpPr txBox="1"/>
          <p:nvPr/>
        </p:nvSpPr>
        <p:spPr>
          <a:xfrm>
            <a:off x="1095375" y="2433637"/>
            <a:ext cx="10001250" cy="112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Ready for Production Adaptation Workflows</a:t>
            </a:r>
            <a:endParaRPr/>
          </a:p>
        </p:txBody>
      </p:sp>
      <p:sp>
        <p:nvSpPr>
          <p:cNvPr id="312" name="Google Shape;312;p22"/>
          <p:cNvSpPr txBox="1"/>
          <p:nvPr/>
        </p:nvSpPr>
        <p:spPr>
          <a:xfrm>
            <a:off x="2524125" y="3709987"/>
            <a:ext cx="71437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Clean on CPU via Curator, train on GPU via AutoModel YAML, evaluate seamlessly with Hugging Face ecosystem.</a:t>
            </a:r>
            <a:endParaRPr dirty="0"/>
          </a:p>
        </p:txBody>
      </p:sp>
      <p:sp>
        <p:nvSpPr>
          <p:cNvPr id="313" name="Google Shape;313;p22"/>
          <p:cNvSpPr txBox="1"/>
          <p:nvPr/>
        </p:nvSpPr>
        <p:spPr>
          <a:xfrm>
            <a:off x="3910012" y="4491037"/>
            <a:ext cx="23622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/content/nemo_pharma_lab</a:t>
            </a:r>
            <a:endParaRPr dirty="0"/>
          </a:p>
        </p:txBody>
      </p:sp>
      <p:sp>
        <p:nvSpPr>
          <p:cNvPr id="314" name="Google Shape;314;p22"/>
          <p:cNvSpPr txBox="1"/>
          <p:nvPr/>
        </p:nvSpPr>
        <p:spPr>
          <a:xfrm>
            <a:off x="6230540" y="4495800"/>
            <a:ext cx="2016918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Questions &amp; Discussion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810</Words>
  <Application>Microsoft Office PowerPoint</Application>
  <PresentationFormat>Widescreen</PresentationFormat>
  <Paragraphs>130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Inter</vt:lpstr>
      <vt:lpstr>JetBrains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Tejaswi SK</cp:lastModifiedBy>
  <cp:revision>10</cp:revision>
  <dcterms:modified xsi:type="dcterms:W3CDTF">2026-10-23T08:03:29Z</dcterms:modified>
</cp:coreProperties>
</file>